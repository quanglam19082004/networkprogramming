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8288000" cy="10287000"/>
  <p:notesSz cx="6858000" cy="9144000"/>
  <p:embeddedFontLst>
    <p:embeddedFont>
      <p:font typeface="Asap Bold" panose="020B0604020202020204" charset="0"/>
      <p:regular r:id="rId26"/>
    </p:embeddedFont>
    <p:embeddedFont>
      <p:font typeface="Asap" panose="020B0604020202020204" charset="0"/>
      <p:regular r:id="rId27"/>
    </p:embeddedFont>
    <p:embeddedFont>
      <p:font typeface="Calibri" panose="020F0502020204030204" pitchFamily="34" charset="0"/>
      <p:regular r:id="rId28"/>
      <p:bold r:id="rId29"/>
      <p:italic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svg"/><Relationship Id="rId7"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21.svg"/><Relationship Id="rId4" Type="http://schemas.openxmlformats.org/officeDocument/2006/relationships/image" Target="../media/image19.png"/><Relationship Id="rId9" Type="http://schemas.openxmlformats.org/officeDocument/2006/relationships/image" Target="../media/image2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3619434" y="1028700"/>
            <a:ext cx="1515338" cy="1483234"/>
          </a:xfrm>
          <a:custGeom>
            <a:avLst/>
            <a:gdLst/>
            <a:ahLst/>
            <a:cxnLst/>
            <a:rect l="l" t="t" r="r" b="b"/>
            <a:pathLst>
              <a:path w="1515338" h="1483234">
                <a:moveTo>
                  <a:pt x="0" y="0"/>
                </a:moveTo>
                <a:lnTo>
                  <a:pt x="1515339" y="0"/>
                </a:lnTo>
                <a:lnTo>
                  <a:pt x="1515339" y="1483234"/>
                </a:lnTo>
                <a:lnTo>
                  <a:pt x="0" y="1483234"/>
                </a:lnTo>
                <a:lnTo>
                  <a:pt x="0" y="0"/>
                </a:lnTo>
                <a:close/>
              </a:path>
            </a:pathLst>
          </a:custGeom>
          <a:blipFill>
            <a:blip r:embed="rId4"/>
            <a:stretch>
              <a:fillRect/>
            </a:stretch>
          </a:blipFill>
        </p:spPr>
      </p:sp>
      <p:sp>
        <p:nvSpPr>
          <p:cNvPr id="4" name="Freeform 4"/>
          <p:cNvSpPr/>
          <p:nvPr/>
        </p:nvSpPr>
        <p:spPr>
          <a:xfrm>
            <a:off x="15776066" y="1028700"/>
            <a:ext cx="1483234" cy="1483234"/>
          </a:xfrm>
          <a:custGeom>
            <a:avLst/>
            <a:gdLst/>
            <a:ahLst/>
            <a:cxnLst/>
            <a:rect l="l" t="t" r="r" b="b"/>
            <a:pathLst>
              <a:path w="1483234" h="1483234">
                <a:moveTo>
                  <a:pt x="0" y="0"/>
                </a:moveTo>
                <a:lnTo>
                  <a:pt x="1483234" y="0"/>
                </a:lnTo>
                <a:lnTo>
                  <a:pt x="1483234" y="1483234"/>
                </a:lnTo>
                <a:lnTo>
                  <a:pt x="0" y="1483234"/>
                </a:lnTo>
                <a:lnTo>
                  <a:pt x="0" y="0"/>
                </a:lnTo>
                <a:close/>
              </a:path>
            </a:pathLst>
          </a:custGeom>
          <a:blipFill>
            <a:blip r:embed="rId5"/>
            <a:stretch>
              <a:fillRect/>
            </a:stretch>
          </a:blipFill>
        </p:spPr>
      </p:sp>
      <p:sp>
        <p:nvSpPr>
          <p:cNvPr id="5" name="Freeform 5"/>
          <p:cNvSpPr/>
          <p:nvPr/>
        </p:nvSpPr>
        <p:spPr>
          <a:xfrm>
            <a:off x="10127006" y="1839890"/>
            <a:ext cx="7289657" cy="4169218"/>
          </a:xfrm>
          <a:custGeom>
            <a:avLst/>
            <a:gdLst/>
            <a:ahLst/>
            <a:cxnLst/>
            <a:rect l="l" t="t" r="r" b="b"/>
            <a:pathLst>
              <a:path w="7289657" h="4169218">
                <a:moveTo>
                  <a:pt x="0" y="0"/>
                </a:moveTo>
                <a:lnTo>
                  <a:pt x="7289657" y="0"/>
                </a:lnTo>
                <a:lnTo>
                  <a:pt x="7289657" y="4169218"/>
                </a:lnTo>
                <a:lnTo>
                  <a:pt x="0" y="4169218"/>
                </a:lnTo>
                <a:lnTo>
                  <a:pt x="0" y="0"/>
                </a:lnTo>
                <a:close/>
              </a:path>
            </a:pathLst>
          </a:custGeom>
          <a:blipFill>
            <a:blip r:embed="rId6"/>
            <a:stretch>
              <a:fillRect/>
            </a:stretch>
          </a:blipFill>
        </p:spPr>
      </p:sp>
      <p:sp>
        <p:nvSpPr>
          <p:cNvPr id="6" name="Freeform 6"/>
          <p:cNvSpPr/>
          <p:nvPr/>
        </p:nvSpPr>
        <p:spPr>
          <a:xfrm>
            <a:off x="10532428" y="4919060"/>
            <a:ext cx="6726872" cy="3324902"/>
          </a:xfrm>
          <a:custGeom>
            <a:avLst/>
            <a:gdLst/>
            <a:ahLst/>
            <a:cxnLst/>
            <a:rect l="l" t="t" r="r" b="b"/>
            <a:pathLst>
              <a:path w="6726872" h="3324902">
                <a:moveTo>
                  <a:pt x="0" y="0"/>
                </a:moveTo>
                <a:lnTo>
                  <a:pt x="6726872" y="0"/>
                </a:lnTo>
                <a:lnTo>
                  <a:pt x="6726872" y="3324902"/>
                </a:lnTo>
                <a:lnTo>
                  <a:pt x="0" y="3324902"/>
                </a:lnTo>
                <a:lnTo>
                  <a:pt x="0" y="0"/>
                </a:lnTo>
                <a:close/>
              </a:path>
            </a:pathLst>
          </a:custGeom>
          <a:blipFill>
            <a:blip r:embed="rId7"/>
            <a:stretch>
              <a:fillRect/>
            </a:stretch>
          </a:blipFill>
        </p:spPr>
      </p:sp>
      <p:sp>
        <p:nvSpPr>
          <p:cNvPr id="7" name="TextBox 7"/>
          <p:cNvSpPr txBox="1"/>
          <p:nvPr/>
        </p:nvSpPr>
        <p:spPr>
          <a:xfrm>
            <a:off x="1028700" y="2284883"/>
            <a:ext cx="8115300" cy="1122003"/>
          </a:xfrm>
          <a:prstGeom prst="rect">
            <a:avLst/>
          </a:prstGeom>
        </p:spPr>
        <p:txBody>
          <a:bodyPr lIns="0" tIns="0" rIns="0" bIns="0" rtlCol="0" anchor="t">
            <a:spAutoFit/>
          </a:bodyPr>
          <a:lstStyle/>
          <a:p>
            <a:pPr algn="l">
              <a:lnSpc>
                <a:spcPts val="9150"/>
              </a:lnSpc>
            </a:pPr>
            <a:r>
              <a:rPr lang="en-US" sz="6536" b="1" spc="104">
                <a:solidFill>
                  <a:srgbClr val="1C4E6B"/>
                </a:solidFill>
                <a:latin typeface="Asap Bold"/>
                <a:ea typeface="Asap Bold"/>
                <a:cs typeface="Asap Bold"/>
                <a:sym typeface="Asap Bold"/>
              </a:rPr>
              <a:t>BÁO CÁO TỔNG KẾT</a:t>
            </a:r>
          </a:p>
        </p:txBody>
      </p:sp>
      <p:sp>
        <p:nvSpPr>
          <p:cNvPr id="8" name="TextBox 8"/>
          <p:cNvSpPr txBox="1"/>
          <p:nvPr/>
        </p:nvSpPr>
        <p:spPr>
          <a:xfrm>
            <a:off x="1028700" y="3515477"/>
            <a:ext cx="8115300" cy="722793"/>
          </a:xfrm>
          <a:prstGeom prst="rect">
            <a:avLst/>
          </a:prstGeom>
        </p:spPr>
        <p:txBody>
          <a:bodyPr lIns="0" tIns="0" rIns="0" bIns="0" rtlCol="0" anchor="t">
            <a:spAutoFit/>
          </a:bodyPr>
          <a:lstStyle/>
          <a:p>
            <a:pPr algn="l">
              <a:lnSpc>
                <a:spcPts val="5836"/>
              </a:lnSpc>
            </a:pPr>
            <a:r>
              <a:rPr lang="en-US" sz="4168" b="1" spc="125">
                <a:solidFill>
                  <a:srgbClr val="6A2C79"/>
                </a:solidFill>
                <a:latin typeface="Asap Bold"/>
                <a:ea typeface="Asap Bold"/>
                <a:cs typeface="Asap Bold"/>
                <a:sym typeface="Asap Bold"/>
              </a:rPr>
              <a:t>HỌC PHẦN: LẬP TRÌNH MẠNG</a:t>
            </a:r>
          </a:p>
        </p:txBody>
      </p:sp>
      <p:sp>
        <p:nvSpPr>
          <p:cNvPr id="9" name="TextBox 9"/>
          <p:cNvSpPr txBox="1"/>
          <p:nvPr/>
        </p:nvSpPr>
        <p:spPr>
          <a:xfrm>
            <a:off x="1028700" y="1085850"/>
            <a:ext cx="11116614" cy="1071393"/>
          </a:xfrm>
          <a:prstGeom prst="rect">
            <a:avLst/>
          </a:prstGeom>
        </p:spPr>
        <p:txBody>
          <a:bodyPr lIns="0" tIns="0" rIns="0" bIns="0" rtlCol="0" anchor="t">
            <a:spAutoFit/>
          </a:bodyPr>
          <a:lstStyle/>
          <a:p>
            <a:pPr algn="l">
              <a:lnSpc>
                <a:spcPts val="3487"/>
              </a:lnSpc>
            </a:pPr>
            <a:r>
              <a:rPr lang="en-US" sz="3453" b="1" spc="79">
                <a:solidFill>
                  <a:srgbClr val="6A2C79"/>
                </a:solidFill>
                <a:latin typeface="Asap Bold"/>
                <a:ea typeface="Asap Bold"/>
                <a:cs typeface="Asap Bold"/>
                <a:sym typeface="Asap Bold"/>
              </a:rPr>
              <a:t>TRƯỜNG ĐẠI HỌC BÁCH KHOA - ĐẠI HỌC ĐÀ NẴNG</a:t>
            </a:r>
          </a:p>
          <a:p>
            <a:pPr algn="l">
              <a:lnSpc>
                <a:spcPts val="6077"/>
              </a:lnSpc>
            </a:pPr>
            <a:r>
              <a:rPr lang="en-US" sz="3453" b="1" spc="79">
                <a:solidFill>
                  <a:srgbClr val="6A2C79"/>
                </a:solidFill>
                <a:latin typeface="Asap Bold"/>
                <a:ea typeface="Asap Bold"/>
                <a:cs typeface="Asap Bold"/>
                <a:sym typeface="Asap Bold"/>
              </a:rPr>
              <a:t>KHOA ĐIỆN TỬ VIỄN THÔNG</a:t>
            </a:r>
          </a:p>
        </p:txBody>
      </p:sp>
      <p:sp>
        <p:nvSpPr>
          <p:cNvPr id="10" name="TextBox 10"/>
          <p:cNvSpPr txBox="1"/>
          <p:nvPr/>
        </p:nvSpPr>
        <p:spPr>
          <a:xfrm>
            <a:off x="1028700" y="4200171"/>
            <a:ext cx="8115300" cy="1399678"/>
          </a:xfrm>
          <a:prstGeom prst="rect">
            <a:avLst/>
          </a:prstGeom>
        </p:spPr>
        <p:txBody>
          <a:bodyPr lIns="0" tIns="0" rIns="0" bIns="0" rtlCol="0" anchor="t">
            <a:spAutoFit/>
          </a:bodyPr>
          <a:lstStyle/>
          <a:p>
            <a:pPr algn="l">
              <a:lnSpc>
                <a:spcPts val="1744"/>
              </a:lnSpc>
            </a:pPr>
            <a:endParaRPr/>
          </a:p>
          <a:p>
            <a:pPr algn="l">
              <a:lnSpc>
                <a:spcPts val="4661"/>
              </a:lnSpc>
            </a:pPr>
            <a:r>
              <a:rPr lang="en-US" sz="3585" b="1" spc="82">
                <a:solidFill>
                  <a:srgbClr val="6A2C79"/>
                </a:solidFill>
                <a:latin typeface="Asap Bold"/>
                <a:ea typeface="Asap Bold"/>
                <a:cs typeface="Asap Bold"/>
                <a:sym typeface="Asap Bold"/>
              </a:rPr>
              <a:t>Đề tài: Đánh giá hiệu suất của CSMA trong mạng Ethernet dùng NS3</a:t>
            </a:r>
          </a:p>
        </p:txBody>
      </p:sp>
      <p:sp>
        <p:nvSpPr>
          <p:cNvPr id="11" name="TextBox 11"/>
          <p:cNvSpPr txBox="1"/>
          <p:nvPr/>
        </p:nvSpPr>
        <p:spPr>
          <a:xfrm>
            <a:off x="1028700" y="5628424"/>
            <a:ext cx="8115300" cy="2449889"/>
          </a:xfrm>
          <a:prstGeom prst="rect">
            <a:avLst/>
          </a:prstGeom>
        </p:spPr>
        <p:txBody>
          <a:bodyPr lIns="0" tIns="0" rIns="0" bIns="0" rtlCol="0" anchor="t">
            <a:spAutoFit/>
          </a:bodyPr>
          <a:lstStyle/>
          <a:p>
            <a:pPr algn="l">
              <a:lnSpc>
                <a:spcPts val="1568"/>
              </a:lnSpc>
            </a:pPr>
            <a:endParaRPr/>
          </a:p>
          <a:p>
            <a:pPr algn="l">
              <a:lnSpc>
                <a:spcPts val="4514"/>
              </a:lnSpc>
            </a:pPr>
            <a:r>
              <a:rPr lang="en-US" sz="3224" b="1" spc="74">
                <a:solidFill>
                  <a:srgbClr val="343434"/>
                </a:solidFill>
                <a:latin typeface="Asap Bold"/>
                <a:ea typeface="Asap Bold"/>
                <a:cs typeface="Asap Bold"/>
                <a:sym typeface="Asap Bold"/>
              </a:rPr>
              <a:t>SVTH:</a:t>
            </a:r>
          </a:p>
          <a:p>
            <a:pPr algn="l">
              <a:lnSpc>
                <a:spcPts val="4514"/>
              </a:lnSpc>
            </a:pPr>
            <a:r>
              <a:rPr lang="en-US" sz="3224" spc="74">
                <a:solidFill>
                  <a:srgbClr val="343434"/>
                </a:solidFill>
                <a:latin typeface="Asap"/>
                <a:ea typeface="Asap"/>
                <a:cs typeface="Asap"/>
                <a:sym typeface="Asap"/>
              </a:rPr>
              <a:t>Trần Quang Khánh - 22KTMT1 - 106220220</a:t>
            </a:r>
          </a:p>
          <a:p>
            <a:pPr algn="l">
              <a:lnSpc>
                <a:spcPts val="4514"/>
              </a:lnSpc>
            </a:pPr>
            <a:r>
              <a:rPr lang="en-US" sz="3224" spc="74">
                <a:solidFill>
                  <a:srgbClr val="343434"/>
                </a:solidFill>
                <a:latin typeface="Asap"/>
                <a:ea typeface="Asap"/>
                <a:cs typeface="Asap"/>
                <a:sym typeface="Asap"/>
              </a:rPr>
              <a:t>Lê Xuân Nam - 22KTMT1 - 106220226</a:t>
            </a:r>
          </a:p>
          <a:p>
            <a:pPr algn="l">
              <a:lnSpc>
                <a:spcPts val="4514"/>
              </a:lnSpc>
            </a:pPr>
            <a:r>
              <a:rPr lang="en-US" sz="3224" spc="74">
                <a:solidFill>
                  <a:srgbClr val="343434"/>
                </a:solidFill>
                <a:latin typeface="Asap"/>
                <a:ea typeface="Asap"/>
                <a:cs typeface="Asap"/>
                <a:sym typeface="Asap"/>
              </a:rPr>
              <a:t>Đặng Quang Lâm - 22KTMT2 - 106220256</a:t>
            </a:r>
          </a:p>
        </p:txBody>
      </p:sp>
      <p:sp>
        <p:nvSpPr>
          <p:cNvPr id="12" name="TextBox 12"/>
          <p:cNvSpPr txBox="1"/>
          <p:nvPr/>
        </p:nvSpPr>
        <p:spPr>
          <a:xfrm>
            <a:off x="9144000" y="8553671"/>
            <a:ext cx="8115300" cy="645094"/>
          </a:xfrm>
          <a:prstGeom prst="rect">
            <a:avLst/>
          </a:prstGeom>
        </p:spPr>
        <p:txBody>
          <a:bodyPr lIns="0" tIns="0" rIns="0" bIns="0" rtlCol="0" anchor="t">
            <a:spAutoFit/>
          </a:bodyPr>
          <a:lstStyle/>
          <a:p>
            <a:pPr algn="r">
              <a:lnSpc>
                <a:spcPts val="1380"/>
              </a:lnSpc>
            </a:pPr>
            <a:endParaRPr/>
          </a:p>
          <a:p>
            <a:pPr algn="r">
              <a:lnSpc>
                <a:spcPts val="3819"/>
              </a:lnSpc>
            </a:pPr>
            <a:r>
              <a:rPr lang="en-US" sz="2938" b="1" spc="67">
                <a:solidFill>
                  <a:srgbClr val="343434"/>
                </a:solidFill>
                <a:latin typeface="Asap Bold"/>
                <a:ea typeface="Asap Bold"/>
                <a:cs typeface="Asap Bold"/>
                <a:sym typeface="Asap Bold"/>
              </a:rPr>
              <a:t>TP. Đà Nẵng, 26 tháng 11 năm 2025</a:t>
            </a:r>
          </a:p>
        </p:txBody>
      </p:sp>
      <p:sp>
        <p:nvSpPr>
          <p:cNvPr id="13" name="TextBox 13"/>
          <p:cNvSpPr txBox="1"/>
          <p:nvPr/>
        </p:nvSpPr>
        <p:spPr>
          <a:xfrm>
            <a:off x="1028700" y="8107782"/>
            <a:ext cx="8115300" cy="692666"/>
          </a:xfrm>
          <a:prstGeom prst="rect">
            <a:avLst/>
          </a:prstGeom>
        </p:spPr>
        <p:txBody>
          <a:bodyPr lIns="0" tIns="0" rIns="0" bIns="0" rtlCol="0" anchor="t">
            <a:spAutoFit/>
          </a:bodyPr>
          <a:lstStyle/>
          <a:p>
            <a:pPr algn="l">
              <a:lnSpc>
                <a:spcPts val="1568"/>
              </a:lnSpc>
            </a:pPr>
            <a:endParaRPr/>
          </a:p>
          <a:p>
            <a:pPr algn="l">
              <a:lnSpc>
                <a:spcPts val="3837"/>
              </a:lnSpc>
            </a:pPr>
            <a:r>
              <a:rPr lang="en-US" sz="3224" b="1" spc="74">
                <a:solidFill>
                  <a:srgbClr val="343434"/>
                </a:solidFill>
                <a:latin typeface="Asap Bold"/>
                <a:ea typeface="Asap Bold"/>
                <a:cs typeface="Asap Bold"/>
                <a:sym typeface="Asap Bold"/>
              </a:rPr>
              <a:t>GVHD:</a:t>
            </a:r>
            <a:r>
              <a:rPr lang="en-US" sz="3224" spc="74">
                <a:solidFill>
                  <a:srgbClr val="343434"/>
                </a:solidFill>
                <a:latin typeface="Asap"/>
                <a:ea typeface="Asap"/>
                <a:cs typeface="Asap"/>
                <a:sym typeface="Asap"/>
              </a:rPr>
              <a:t> TS. Nguyễn Văn Hiếu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graphicFrame>
        <p:nvGraphicFramePr>
          <p:cNvPr id="3" name="Table 3"/>
          <p:cNvGraphicFramePr>
            <a:graphicFrameLocks noGrp="1"/>
          </p:cNvGraphicFramePr>
          <p:nvPr/>
        </p:nvGraphicFramePr>
        <p:xfrm>
          <a:off x="1028700" y="2263157"/>
          <a:ext cx="16230600" cy="6535739"/>
        </p:xfrm>
        <a:graphic>
          <a:graphicData uri="http://schemas.openxmlformats.org/drawingml/2006/table">
            <a:tbl>
              <a:tblPr/>
              <a:tblGrid>
                <a:gridCol w="3566429"/>
                <a:gridCol w="9345310"/>
                <a:gridCol w="3318861"/>
              </a:tblGrid>
              <a:tr h="1504194">
                <a:tc>
                  <a:txBody>
                    <a:bodyPr/>
                    <a:lstStyle/>
                    <a:p>
                      <a:pPr algn="ctr">
                        <a:lnSpc>
                          <a:spcPts val="4059"/>
                        </a:lnSpc>
                        <a:defRPr/>
                      </a:pPr>
                      <a:r>
                        <a:rPr lang="en-US" sz="2899" b="1">
                          <a:solidFill>
                            <a:srgbClr val="1C4E6B"/>
                          </a:solidFill>
                          <a:latin typeface="Asap Bold"/>
                          <a:ea typeface="Asap Bold"/>
                          <a:cs typeface="Asap Bold"/>
                          <a:sym typeface="Asap Bold"/>
                        </a:rPr>
                        <a:t>Sinh viên thực hiện</a:t>
                      </a:r>
                      <a:endParaRPr lang="en-US" sz="1100"/>
                    </a:p>
                  </a:txBody>
                  <a:tcPr marL="190500" marR="190500" marT="190500" marB="190500" anchor="ctr">
                    <a:lnL w="38100" cap="flat" cmpd="sng" algn="ctr">
                      <a:solidFill>
                        <a:srgbClr val="1C4E6B"/>
                      </a:solidFill>
                      <a:prstDash val="solid"/>
                      <a:round/>
                      <a:headEnd type="none" w="med" len="med"/>
                      <a:tailEnd type="none" w="med" len="med"/>
                    </a:lnL>
                    <a:lnR w="38100" cap="flat" cmpd="sng" algn="ctr">
                      <a:solidFill>
                        <a:srgbClr val="1C4E6B"/>
                      </a:solidFill>
                      <a:prstDash val="solid"/>
                      <a:round/>
                      <a:headEnd type="none" w="med" len="med"/>
                      <a:tailEnd type="none" w="med" len="med"/>
                    </a:lnR>
                    <a:lnT w="38100" cap="flat" cmpd="sng" algn="ctr">
                      <a:solidFill>
                        <a:srgbClr val="1C4E6B"/>
                      </a:solidFill>
                      <a:prstDash val="solid"/>
                      <a:round/>
                      <a:headEnd type="none" w="med" len="med"/>
                      <a:tailEnd type="none" w="med" len="med"/>
                    </a:lnT>
                    <a:lnB w="38100" cap="flat" cmpd="sng" algn="ctr">
                      <a:solidFill>
                        <a:srgbClr val="1C4E6B"/>
                      </a:solidFill>
                      <a:prstDash val="solid"/>
                      <a:round/>
                      <a:headEnd type="none" w="med" len="med"/>
                      <a:tailEnd type="none" w="med" len="med"/>
                    </a:lnB>
                    <a:solidFill>
                      <a:srgbClr val="F8FFD8"/>
                    </a:solidFill>
                  </a:tcPr>
                </a:tc>
                <a:tc>
                  <a:txBody>
                    <a:bodyPr/>
                    <a:lstStyle/>
                    <a:p>
                      <a:pPr algn="ctr">
                        <a:lnSpc>
                          <a:spcPts val="4059"/>
                        </a:lnSpc>
                        <a:defRPr/>
                      </a:pPr>
                      <a:r>
                        <a:rPr lang="en-US" sz="2899" b="1">
                          <a:solidFill>
                            <a:srgbClr val="1C4E6B"/>
                          </a:solidFill>
                          <a:latin typeface="Asap Bold"/>
                          <a:ea typeface="Asap Bold"/>
                          <a:cs typeface="Asap Bold"/>
                          <a:sym typeface="Asap Bold"/>
                        </a:rPr>
                        <a:t>Nhiệm vụ</a:t>
                      </a:r>
                      <a:endParaRPr lang="en-US" sz="1100"/>
                    </a:p>
                  </a:txBody>
                  <a:tcPr marL="190500" marR="190500" marT="190500" marB="190500" anchor="ctr">
                    <a:lnL w="38100" cap="flat" cmpd="sng" algn="ctr">
                      <a:solidFill>
                        <a:srgbClr val="1C4E6B"/>
                      </a:solidFill>
                      <a:prstDash val="solid"/>
                      <a:round/>
                      <a:headEnd type="none" w="med" len="med"/>
                      <a:tailEnd type="none" w="med" len="med"/>
                    </a:lnL>
                    <a:lnR w="38100" cap="flat" cmpd="sng" algn="ctr">
                      <a:solidFill>
                        <a:srgbClr val="1C4E6B"/>
                      </a:solidFill>
                      <a:prstDash val="solid"/>
                      <a:round/>
                      <a:headEnd type="none" w="med" len="med"/>
                      <a:tailEnd type="none" w="med" len="med"/>
                    </a:lnR>
                    <a:lnT w="38100" cap="flat" cmpd="sng" algn="ctr">
                      <a:solidFill>
                        <a:srgbClr val="1C4E6B"/>
                      </a:solidFill>
                      <a:prstDash val="solid"/>
                      <a:round/>
                      <a:headEnd type="none" w="med" len="med"/>
                      <a:tailEnd type="none" w="med" len="med"/>
                    </a:lnT>
                    <a:lnB w="38100" cap="flat" cmpd="sng" algn="ctr">
                      <a:solidFill>
                        <a:srgbClr val="1C4E6B"/>
                      </a:solidFill>
                      <a:prstDash val="solid"/>
                      <a:round/>
                      <a:headEnd type="none" w="med" len="med"/>
                      <a:tailEnd type="none" w="med" len="med"/>
                    </a:lnB>
                    <a:solidFill>
                      <a:srgbClr val="F8FFD8"/>
                    </a:solidFill>
                  </a:tcPr>
                </a:tc>
                <a:tc>
                  <a:txBody>
                    <a:bodyPr/>
                    <a:lstStyle/>
                    <a:p>
                      <a:pPr algn="ctr">
                        <a:lnSpc>
                          <a:spcPts val="4059"/>
                        </a:lnSpc>
                        <a:defRPr/>
                      </a:pPr>
                      <a:r>
                        <a:rPr lang="en-US" sz="2899" b="1">
                          <a:solidFill>
                            <a:srgbClr val="1C4E6B"/>
                          </a:solidFill>
                          <a:latin typeface="Asap Bold"/>
                          <a:ea typeface="Asap Bold"/>
                          <a:cs typeface="Asap Bold"/>
                          <a:sym typeface="Asap Bold"/>
                        </a:rPr>
                        <a:t>Phần trăm đóng góp</a:t>
                      </a:r>
                      <a:endParaRPr lang="en-US" sz="1100"/>
                    </a:p>
                  </a:txBody>
                  <a:tcPr marL="190500" marR="190500" marT="190500" marB="190500" anchor="ctr">
                    <a:lnL w="38100" cap="flat" cmpd="sng" algn="ctr">
                      <a:solidFill>
                        <a:srgbClr val="1C4E6B"/>
                      </a:solidFill>
                      <a:prstDash val="solid"/>
                      <a:round/>
                      <a:headEnd type="none" w="med" len="med"/>
                      <a:tailEnd type="none" w="med" len="med"/>
                    </a:lnL>
                    <a:lnR w="38100" cap="flat" cmpd="sng" algn="ctr">
                      <a:solidFill>
                        <a:srgbClr val="1C4E6B"/>
                      </a:solidFill>
                      <a:prstDash val="solid"/>
                      <a:round/>
                      <a:headEnd type="none" w="med" len="med"/>
                      <a:tailEnd type="none" w="med" len="med"/>
                    </a:lnR>
                    <a:lnT w="38100" cap="flat" cmpd="sng" algn="ctr">
                      <a:solidFill>
                        <a:srgbClr val="1C4E6B"/>
                      </a:solidFill>
                      <a:prstDash val="solid"/>
                      <a:round/>
                      <a:headEnd type="none" w="med" len="med"/>
                      <a:tailEnd type="none" w="med" len="med"/>
                    </a:lnT>
                    <a:lnB w="38100" cap="flat" cmpd="sng" algn="ctr">
                      <a:solidFill>
                        <a:srgbClr val="1C4E6B"/>
                      </a:solidFill>
                      <a:prstDash val="solid"/>
                      <a:round/>
                      <a:headEnd type="none" w="med" len="med"/>
                      <a:tailEnd type="none" w="med" len="med"/>
                    </a:lnB>
                    <a:solidFill>
                      <a:srgbClr val="F8FFD8"/>
                    </a:solidFill>
                  </a:tcPr>
                </a:tc>
              </a:tr>
              <a:tr h="2021560">
                <a:tc>
                  <a:txBody>
                    <a:bodyPr/>
                    <a:lstStyle/>
                    <a:p>
                      <a:pPr algn="ctr">
                        <a:lnSpc>
                          <a:spcPts val="4059"/>
                        </a:lnSpc>
                        <a:defRPr/>
                      </a:pPr>
                      <a:r>
                        <a:rPr lang="en-US" sz="2899">
                          <a:solidFill>
                            <a:srgbClr val="000000"/>
                          </a:solidFill>
                          <a:latin typeface="Asap"/>
                          <a:ea typeface="Asap"/>
                          <a:cs typeface="Asap"/>
                          <a:sym typeface="Asap"/>
                        </a:rPr>
                        <a:t>Trần Quang Khánh</a:t>
                      </a:r>
                      <a:endParaRPr lang="en-US" sz="1100"/>
                    </a:p>
                  </a:txBody>
                  <a:tcPr marL="190500" marR="190500" marT="190500" marB="190500" anchor="ctr">
                    <a:lnL w="38100" cap="flat" cmpd="sng" algn="ctr">
                      <a:solidFill>
                        <a:srgbClr val="1C4E6B"/>
                      </a:solidFill>
                      <a:prstDash val="solid"/>
                      <a:round/>
                      <a:headEnd type="none" w="med" len="med"/>
                      <a:tailEnd type="none" w="med" len="med"/>
                    </a:lnL>
                    <a:lnR w="38100" cap="flat" cmpd="sng" algn="ctr">
                      <a:solidFill>
                        <a:srgbClr val="1C4E6B"/>
                      </a:solidFill>
                      <a:prstDash val="solid"/>
                      <a:round/>
                      <a:headEnd type="none" w="med" len="med"/>
                      <a:tailEnd type="none" w="med" len="med"/>
                    </a:lnR>
                    <a:lnT w="38100" cap="flat" cmpd="sng" algn="ctr">
                      <a:solidFill>
                        <a:srgbClr val="1C4E6B"/>
                      </a:solidFill>
                      <a:prstDash val="solid"/>
                      <a:round/>
                      <a:headEnd type="none" w="med" len="med"/>
                      <a:tailEnd type="none" w="med" len="med"/>
                    </a:lnT>
                    <a:lnB w="38100" cap="flat" cmpd="sng" algn="ctr">
                      <a:solidFill>
                        <a:srgbClr val="1C4E6B"/>
                      </a:solidFill>
                      <a:prstDash val="solid"/>
                      <a:round/>
                      <a:headEnd type="none" w="med" len="med"/>
                      <a:tailEnd type="none" w="med" len="med"/>
                    </a:lnB>
                    <a:solidFill>
                      <a:srgbClr val="F9FBED"/>
                    </a:solidFill>
                  </a:tcPr>
                </a:tc>
                <a:tc>
                  <a:txBody>
                    <a:bodyPr/>
                    <a:lstStyle/>
                    <a:p>
                      <a:pPr algn="ctr">
                        <a:lnSpc>
                          <a:spcPts val="4059"/>
                        </a:lnSpc>
                        <a:defRPr/>
                      </a:pPr>
                      <a:r>
                        <a:rPr lang="en-US" sz="2899">
                          <a:solidFill>
                            <a:srgbClr val="000000"/>
                          </a:solidFill>
                          <a:latin typeface="Asap"/>
                          <a:ea typeface="Asap"/>
                          <a:cs typeface="Asap"/>
                          <a:sym typeface="Asap"/>
                        </a:rPr>
                        <a:t>Viết báo cáo phần giới thiệu, 2 phần đầu tiên của phần phương pháp, thực hiện cài đặt, mô phỏng và ra kết quả.</a:t>
                      </a:r>
                      <a:endParaRPr lang="en-US" sz="1100"/>
                    </a:p>
                  </a:txBody>
                  <a:tcPr marL="190500" marR="190500" marT="190500" marB="190500" anchor="ctr">
                    <a:lnL w="38100" cap="flat" cmpd="sng" algn="ctr">
                      <a:solidFill>
                        <a:srgbClr val="1C4E6B"/>
                      </a:solidFill>
                      <a:prstDash val="solid"/>
                      <a:round/>
                      <a:headEnd type="none" w="med" len="med"/>
                      <a:tailEnd type="none" w="med" len="med"/>
                    </a:lnL>
                    <a:lnR w="38100" cap="flat" cmpd="sng" algn="ctr">
                      <a:solidFill>
                        <a:srgbClr val="1C4E6B"/>
                      </a:solidFill>
                      <a:prstDash val="solid"/>
                      <a:round/>
                      <a:headEnd type="none" w="med" len="med"/>
                      <a:tailEnd type="none" w="med" len="med"/>
                    </a:lnR>
                    <a:lnT w="38100" cap="flat" cmpd="sng" algn="ctr">
                      <a:solidFill>
                        <a:srgbClr val="1C4E6B"/>
                      </a:solidFill>
                      <a:prstDash val="solid"/>
                      <a:round/>
                      <a:headEnd type="none" w="med" len="med"/>
                      <a:tailEnd type="none" w="med" len="med"/>
                    </a:lnT>
                    <a:lnB w="38100" cap="flat" cmpd="sng" algn="ctr">
                      <a:solidFill>
                        <a:srgbClr val="1C4E6B"/>
                      </a:solidFill>
                      <a:prstDash val="solid"/>
                      <a:round/>
                      <a:headEnd type="none" w="med" len="med"/>
                      <a:tailEnd type="none" w="med" len="med"/>
                    </a:lnB>
                    <a:solidFill>
                      <a:srgbClr val="F9FBED"/>
                    </a:solidFill>
                  </a:tcPr>
                </a:tc>
                <a:tc>
                  <a:txBody>
                    <a:bodyPr/>
                    <a:lstStyle/>
                    <a:p>
                      <a:pPr algn="ctr">
                        <a:lnSpc>
                          <a:spcPts val="4059"/>
                        </a:lnSpc>
                        <a:defRPr/>
                      </a:pPr>
                      <a:r>
                        <a:rPr lang="en-US" sz="2899">
                          <a:solidFill>
                            <a:srgbClr val="000000"/>
                          </a:solidFill>
                          <a:latin typeface="Asap"/>
                          <a:ea typeface="Asap"/>
                          <a:cs typeface="Asap"/>
                          <a:sym typeface="Asap"/>
                        </a:rPr>
                        <a:t>34%</a:t>
                      </a:r>
                      <a:endParaRPr lang="en-US" sz="1100"/>
                    </a:p>
                  </a:txBody>
                  <a:tcPr marL="190500" marR="190500" marT="190500" marB="190500" anchor="ctr">
                    <a:lnL w="38100" cap="flat" cmpd="sng" algn="ctr">
                      <a:solidFill>
                        <a:srgbClr val="1C4E6B"/>
                      </a:solidFill>
                      <a:prstDash val="solid"/>
                      <a:round/>
                      <a:headEnd type="none" w="med" len="med"/>
                      <a:tailEnd type="none" w="med" len="med"/>
                    </a:lnL>
                    <a:lnR w="38100" cap="flat" cmpd="sng" algn="ctr">
                      <a:solidFill>
                        <a:srgbClr val="1C4E6B"/>
                      </a:solidFill>
                      <a:prstDash val="solid"/>
                      <a:round/>
                      <a:headEnd type="none" w="med" len="med"/>
                      <a:tailEnd type="none" w="med" len="med"/>
                    </a:lnR>
                    <a:lnT w="38100" cap="flat" cmpd="sng" algn="ctr">
                      <a:solidFill>
                        <a:srgbClr val="1C4E6B"/>
                      </a:solidFill>
                      <a:prstDash val="solid"/>
                      <a:round/>
                      <a:headEnd type="none" w="med" len="med"/>
                      <a:tailEnd type="none" w="med" len="med"/>
                    </a:lnT>
                    <a:lnB w="38100" cap="flat" cmpd="sng" algn="ctr">
                      <a:solidFill>
                        <a:srgbClr val="1C4E6B"/>
                      </a:solidFill>
                      <a:prstDash val="solid"/>
                      <a:round/>
                      <a:headEnd type="none" w="med" len="med"/>
                      <a:tailEnd type="none" w="med" len="med"/>
                    </a:lnB>
                    <a:solidFill>
                      <a:srgbClr val="F9FBED"/>
                    </a:solidFill>
                  </a:tcPr>
                </a:tc>
              </a:tr>
              <a:tr h="1505791">
                <a:tc>
                  <a:txBody>
                    <a:bodyPr/>
                    <a:lstStyle/>
                    <a:p>
                      <a:pPr algn="ctr">
                        <a:lnSpc>
                          <a:spcPts val="4059"/>
                        </a:lnSpc>
                        <a:defRPr/>
                      </a:pPr>
                      <a:r>
                        <a:rPr lang="en-US" sz="2899">
                          <a:solidFill>
                            <a:srgbClr val="000000"/>
                          </a:solidFill>
                          <a:latin typeface="Asap"/>
                          <a:ea typeface="Asap"/>
                          <a:cs typeface="Asap"/>
                          <a:sym typeface="Asap"/>
                        </a:rPr>
                        <a:t>Lê Xuân Nam</a:t>
                      </a:r>
                      <a:endParaRPr lang="en-US" sz="1100"/>
                    </a:p>
                  </a:txBody>
                  <a:tcPr marL="190500" marR="190500" marT="190500" marB="190500" anchor="ctr">
                    <a:lnL w="38100" cap="flat" cmpd="sng" algn="ctr">
                      <a:solidFill>
                        <a:srgbClr val="1C4E6B"/>
                      </a:solidFill>
                      <a:prstDash val="solid"/>
                      <a:round/>
                      <a:headEnd type="none" w="med" len="med"/>
                      <a:tailEnd type="none" w="med" len="med"/>
                    </a:lnL>
                    <a:lnR w="38100" cap="flat" cmpd="sng" algn="ctr">
                      <a:solidFill>
                        <a:srgbClr val="1C4E6B"/>
                      </a:solidFill>
                      <a:prstDash val="solid"/>
                      <a:round/>
                      <a:headEnd type="none" w="med" len="med"/>
                      <a:tailEnd type="none" w="med" len="med"/>
                    </a:lnR>
                    <a:lnT w="38100" cap="flat" cmpd="sng" algn="ctr">
                      <a:solidFill>
                        <a:srgbClr val="1C4E6B"/>
                      </a:solidFill>
                      <a:prstDash val="solid"/>
                      <a:round/>
                      <a:headEnd type="none" w="med" len="med"/>
                      <a:tailEnd type="none" w="med" len="med"/>
                    </a:lnT>
                    <a:lnB w="38100" cap="flat" cmpd="sng" algn="ctr">
                      <a:solidFill>
                        <a:srgbClr val="1C4E6B"/>
                      </a:solidFill>
                      <a:prstDash val="solid"/>
                      <a:round/>
                      <a:headEnd type="none" w="med" len="med"/>
                      <a:tailEnd type="none" w="med" len="med"/>
                    </a:lnB>
                    <a:solidFill>
                      <a:srgbClr val="F9FBED"/>
                    </a:solidFill>
                  </a:tcPr>
                </a:tc>
                <a:tc>
                  <a:txBody>
                    <a:bodyPr/>
                    <a:lstStyle/>
                    <a:p>
                      <a:pPr algn="ctr">
                        <a:lnSpc>
                          <a:spcPts val="4059"/>
                        </a:lnSpc>
                        <a:defRPr/>
                      </a:pPr>
                      <a:r>
                        <a:rPr lang="en-US" sz="2899">
                          <a:solidFill>
                            <a:srgbClr val="000000"/>
                          </a:solidFill>
                          <a:latin typeface="Asap"/>
                          <a:ea typeface="Asap"/>
                          <a:cs typeface="Asap"/>
                          <a:sym typeface="Asap"/>
                        </a:rPr>
                        <a:t>Viết báo cáo phần phân tích kết quả, hỗ trợ đánh giá và viết báo cáo phần kết quả mô phỏng.</a:t>
                      </a:r>
                      <a:endParaRPr lang="en-US" sz="1100"/>
                    </a:p>
                  </a:txBody>
                  <a:tcPr marL="190500" marR="190500" marT="190500" marB="190500" anchor="ctr">
                    <a:lnL w="38100" cap="flat" cmpd="sng" algn="ctr">
                      <a:solidFill>
                        <a:srgbClr val="1C4E6B"/>
                      </a:solidFill>
                      <a:prstDash val="solid"/>
                      <a:round/>
                      <a:headEnd type="none" w="med" len="med"/>
                      <a:tailEnd type="none" w="med" len="med"/>
                    </a:lnL>
                    <a:lnR w="38100" cap="flat" cmpd="sng" algn="ctr">
                      <a:solidFill>
                        <a:srgbClr val="1C4E6B"/>
                      </a:solidFill>
                      <a:prstDash val="solid"/>
                      <a:round/>
                      <a:headEnd type="none" w="med" len="med"/>
                      <a:tailEnd type="none" w="med" len="med"/>
                    </a:lnR>
                    <a:lnT w="38100" cap="flat" cmpd="sng" algn="ctr">
                      <a:solidFill>
                        <a:srgbClr val="1C4E6B"/>
                      </a:solidFill>
                      <a:prstDash val="solid"/>
                      <a:round/>
                      <a:headEnd type="none" w="med" len="med"/>
                      <a:tailEnd type="none" w="med" len="med"/>
                    </a:lnT>
                    <a:lnB w="38100" cap="flat" cmpd="sng" algn="ctr">
                      <a:solidFill>
                        <a:srgbClr val="1C4E6B"/>
                      </a:solidFill>
                      <a:prstDash val="solid"/>
                      <a:round/>
                      <a:headEnd type="none" w="med" len="med"/>
                      <a:tailEnd type="none" w="med" len="med"/>
                    </a:lnB>
                    <a:solidFill>
                      <a:srgbClr val="F9FBED"/>
                    </a:solidFill>
                  </a:tcPr>
                </a:tc>
                <a:tc>
                  <a:txBody>
                    <a:bodyPr/>
                    <a:lstStyle/>
                    <a:p>
                      <a:pPr algn="ctr">
                        <a:lnSpc>
                          <a:spcPts val="4059"/>
                        </a:lnSpc>
                        <a:defRPr/>
                      </a:pPr>
                      <a:r>
                        <a:rPr lang="en-US" sz="2899">
                          <a:solidFill>
                            <a:srgbClr val="000000"/>
                          </a:solidFill>
                          <a:latin typeface="Asap"/>
                          <a:ea typeface="Asap"/>
                          <a:cs typeface="Asap"/>
                          <a:sym typeface="Asap"/>
                        </a:rPr>
                        <a:t>33%</a:t>
                      </a:r>
                      <a:endParaRPr lang="en-US" sz="1100"/>
                    </a:p>
                  </a:txBody>
                  <a:tcPr marL="190500" marR="190500" marT="190500" marB="190500" anchor="ctr">
                    <a:lnL w="38100" cap="flat" cmpd="sng" algn="ctr">
                      <a:solidFill>
                        <a:srgbClr val="1C4E6B"/>
                      </a:solidFill>
                      <a:prstDash val="solid"/>
                      <a:round/>
                      <a:headEnd type="none" w="med" len="med"/>
                      <a:tailEnd type="none" w="med" len="med"/>
                    </a:lnL>
                    <a:lnR w="38100" cap="flat" cmpd="sng" algn="ctr">
                      <a:solidFill>
                        <a:srgbClr val="1C4E6B"/>
                      </a:solidFill>
                      <a:prstDash val="solid"/>
                      <a:round/>
                      <a:headEnd type="none" w="med" len="med"/>
                      <a:tailEnd type="none" w="med" len="med"/>
                    </a:lnR>
                    <a:lnT w="38100" cap="flat" cmpd="sng" algn="ctr">
                      <a:solidFill>
                        <a:srgbClr val="1C4E6B"/>
                      </a:solidFill>
                      <a:prstDash val="solid"/>
                      <a:round/>
                      <a:headEnd type="none" w="med" len="med"/>
                      <a:tailEnd type="none" w="med" len="med"/>
                    </a:lnT>
                    <a:lnB w="38100" cap="flat" cmpd="sng" algn="ctr">
                      <a:solidFill>
                        <a:srgbClr val="1C4E6B"/>
                      </a:solidFill>
                      <a:prstDash val="solid"/>
                      <a:round/>
                      <a:headEnd type="none" w="med" len="med"/>
                      <a:tailEnd type="none" w="med" len="med"/>
                    </a:lnB>
                    <a:solidFill>
                      <a:srgbClr val="F9FBED"/>
                    </a:solidFill>
                  </a:tcPr>
                </a:tc>
              </a:tr>
              <a:tr h="1504194">
                <a:tc>
                  <a:txBody>
                    <a:bodyPr/>
                    <a:lstStyle/>
                    <a:p>
                      <a:pPr algn="ctr">
                        <a:lnSpc>
                          <a:spcPts val="4059"/>
                        </a:lnSpc>
                        <a:defRPr/>
                      </a:pPr>
                      <a:r>
                        <a:rPr lang="en-US" sz="2899">
                          <a:solidFill>
                            <a:srgbClr val="000000"/>
                          </a:solidFill>
                          <a:latin typeface="Asap"/>
                          <a:ea typeface="Asap"/>
                          <a:cs typeface="Asap"/>
                          <a:sym typeface="Asap"/>
                        </a:rPr>
                        <a:t>Đặng Quang Lâm</a:t>
                      </a:r>
                      <a:endParaRPr lang="en-US" sz="1100"/>
                    </a:p>
                  </a:txBody>
                  <a:tcPr marL="190500" marR="190500" marT="190500" marB="190500" anchor="ctr">
                    <a:lnL w="38100" cap="flat" cmpd="sng" algn="ctr">
                      <a:solidFill>
                        <a:srgbClr val="1C4E6B"/>
                      </a:solidFill>
                      <a:prstDash val="solid"/>
                      <a:round/>
                      <a:headEnd type="none" w="med" len="med"/>
                      <a:tailEnd type="none" w="med" len="med"/>
                    </a:lnL>
                    <a:lnR w="38100" cap="flat" cmpd="sng" algn="ctr">
                      <a:solidFill>
                        <a:srgbClr val="1C4E6B"/>
                      </a:solidFill>
                      <a:prstDash val="solid"/>
                      <a:round/>
                      <a:headEnd type="none" w="med" len="med"/>
                      <a:tailEnd type="none" w="med" len="med"/>
                    </a:lnR>
                    <a:lnT w="38100" cap="flat" cmpd="sng" algn="ctr">
                      <a:solidFill>
                        <a:srgbClr val="1C4E6B"/>
                      </a:solidFill>
                      <a:prstDash val="solid"/>
                      <a:round/>
                      <a:headEnd type="none" w="med" len="med"/>
                      <a:tailEnd type="none" w="med" len="med"/>
                    </a:lnT>
                    <a:lnB w="38100" cap="flat" cmpd="sng" algn="ctr">
                      <a:solidFill>
                        <a:srgbClr val="1C4E6B"/>
                      </a:solidFill>
                      <a:prstDash val="solid"/>
                      <a:round/>
                      <a:headEnd type="none" w="med" len="med"/>
                      <a:tailEnd type="none" w="med" len="med"/>
                    </a:lnB>
                    <a:solidFill>
                      <a:srgbClr val="F9FBED"/>
                    </a:solidFill>
                  </a:tcPr>
                </a:tc>
                <a:tc>
                  <a:txBody>
                    <a:bodyPr/>
                    <a:lstStyle/>
                    <a:p>
                      <a:pPr algn="ctr">
                        <a:lnSpc>
                          <a:spcPts val="4059"/>
                        </a:lnSpc>
                        <a:defRPr/>
                      </a:pPr>
                      <a:r>
                        <a:rPr lang="en-US" sz="2899">
                          <a:solidFill>
                            <a:srgbClr val="000000"/>
                          </a:solidFill>
                          <a:latin typeface="Asap"/>
                          <a:ea typeface="Asap"/>
                          <a:cs typeface="Asap"/>
                          <a:sym typeface="Asap"/>
                        </a:rPr>
                        <a:t>Viết báo cáo phần kịch bản mô phỏng (ở phần phương pháp) và các công cụ sử dụng cho đề tài.</a:t>
                      </a:r>
                      <a:endParaRPr lang="en-US" sz="1100"/>
                    </a:p>
                  </a:txBody>
                  <a:tcPr marL="190500" marR="190500" marT="190500" marB="190500" anchor="ctr">
                    <a:lnL w="38100" cap="flat" cmpd="sng" algn="ctr">
                      <a:solidFill>
                        <a:srgbClr val="1C4E6B"/>
                      </a:solidFill>
                      <a:prstDash val="solid"/>
                      <a:round/>
                      <a:headEnd type="none" w="med" len="med"/>
                      <a:tailEnd type="none" w="med" len="med"/>
                    </a:lnL>
                    <a:lnR w="38100" cap="flat" cmpd="sng" algn="ctr">
                      <a:solidFill>
                        <a:srgbClr val="1C4E6B"/>
                      </a:solidFill>
                      <a:prstDash val="solid"/>
                      <a:round/>
                      <a:headEnd type="none" w="med" len="med"/>
                      <a:tailEnd type="none" w="med" len="med"/>
                    </a:lnR>
                    <a:lnT w="38100" cap="flat" cmpd="sng" algn="ctr">
                      <a:solidFill>
                        <a:srgbClr val="1C4E6B"/>
                      </a:solidFill>
                      <a:prstDash val="solid"/>
                      <a:round/>
                      <a:headEnd type="none" w="med" len="med"/>
                      <a:tailEnd type="none" w="med" len="med"/>
                    </a:lnT>
                    <a:lnB w="38100" cap="flat" cmpd="sng" algn="ctr">
                      <a:solidFill>
                        <a:srgbClr val="1C4E6B"/>
                      </a:solidFill>
                      <a:prstDash val="solid"/>
                      <a:round/>
                      <a:headEnd type="none" w="med" len="med"/>
                      <a:tailEnd type="none" w="med" len="med"/>
                    </a:lnB>
                    <a:solidFill>
                      <a:srgbClr val="F9FBED"/>
                    </a:solidFill>
                  </a:tcPr>
                </a:tc>
                <a:tc>
                  <a:txBody>
                    <a:bodyPr/>
                    <a:lstStyle/>
                    <a:p>
                      <a:pPr algn="ctr">
                        <a:lnSpc>
                          <a:spcPts val="4059"/>
                        </a:lnSpc>
                        <a:defRPr/>
                      </a:pPr>
                      <a:r>
                        <a:rPr lang="en-US" sz="2899">
                          <a:solidFill>
                            <a:srgbClr val="000000"/>
                          </a:solidFill>
                          <a:latin typeface="Asap"/>
                          <a:ea typeface="Asap"/>
                          <a:cs typeface="Asap"/>
                          <a:sym typeface="Asap"/>
                        </a:rPr>
                        <a:t>33%</a:t>
                      </a:r>
                      <a:endParaRPr lang="en-US" sz="1100"/>
                    </a:p>
                  </a:txBody>
                  <a:tcPr marL="190500" marR="190500" marT="190500" marB="190500" anchor="ctr">
                    <a:lnL w="38100" cap="flat" cmpd="sng" algn="ctr">
                      <a:solidFill>
                        <a:srgbClr val="1C4E6B"/>
                      </a:solidFill>
                      <a:prstDash val="solid"/>
                      <a:round/>
                      <a:headEnd type="none" w="med" len="med"/>
                      <a:tailEnd type="none" w="med" len="med"/>
                    </a:lnL>
                    <a:lnR w="38100" cap="flat" cmpd="sng" algn="ctr">
                      <a:solidFill>
                        <a:srgbClr val="1C4E6B"/>
                      </a:solidFill>
                      <a:prstDash val="solid"/>
                      <a:round/>
                      <a:headEnd type="none" w="med" len="med"/>
                      <a:tailEnd type="none" w="med" len="med"/>
                    </a:lnR>
                    <a:lnT w="38100" cap="flat" cmpd="sng" algn="ctr">
                      <a:solidFill>
                        <a:srgbClr val="1C4E6B"/>
                      </a:solidFill>
                      <a:prstDash val="solid"/>
                      <a:round/>
                      <a:headEnd type="none" w="med" len="med"/>
                      <a:tailEnd type="none" w="med" len="med"/>
                    </a:lnT>
                    <a:lnB w="38100" cap="flat" cmpd="sng" algn="ctr">
                      <a:solidFill>
                        <a:srgbClr val="1C4E6B"/>
                      </a:solidFill>
                      <a:prstDash val="solid"/>
                      <a:round/>
                      <a:headEnd type="none" w="med" len="med"/>
                      <a:tailEnd type="none" w="med" len="med"/>
                    </a:lnB>
                    <a:solidFill>
                      <a:srgbClr val="F9FBED"/>
                    </a:solidFill>
                  </a:tcPr>
                </a:tc>
              </a:tr>
            </a:tbl>
          </a:graphicData>
        </a:graphic>
      </p:graphicFrame>
      <p:sp>
        <p:nvSpPr>
          <p:cNvPr id="4" name="TextBox 4"/>
          <p:cNvSpPr txBox="1"/>
          <p:nvPr/>
        </p:nvSpPr>
        <p:spPr>
          <a:xfrm>
            <a:off x="581438" y="612642"/>
            <a:ext cx="11116614"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PHÂN CÔNG CÔNG VIỆC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a:off x="1028700" y="2236824"/>
            <a:ext cx="8115300" cy="1111671"/>
            <a:chOff x="0" y="-38100"/>
            <a:chExt cx="2074719" cy="284205"/>
          </a:xfrm>
        </p:grpSpPr>
        <p:sp>
          <p:nvSpPr>
            <p:cNvPr id="4" name="Freeform 4"/>
            <p:cNvSpPr/>
            <p:nvPr/>
          </p:nvSpPr>
          <p:spPr>
            <a:xfrm>
              <a:off x="0" y="0"/>
              <a:ext cx="2074719" cy="208005"/>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5" name="TextBox 5"/>
            <p:cNvSpPr txBox="1"/>
            <p:nvPr/>
          </p:nvSpPr>
          <p:spPr>
            <a:xfrm>
              <a:off x="0" y="-38100"/>
              <a:ext cx="2074719" cy="284205"/>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Giới thiệu</a:t>
              </a:r>
            </a:p>
          </p:txBody>
        </p:sp>
      </p:grpSp>
      <p:grpSp>
        <p:nvGrpSpPr>
          <p:cNvPr id="6" name="Group 6"/>
          <p:cNvGrpSpPr/>
          <p:nvPr/>
        </p:nvGrpSpPr>
        <p:grpSpPr>
          <a:xfrm>
            <a:off x="1028700" y="3427476"/>
            <a:ext cx="8115300" cy="1111671"/>
            <a:chOff x="0" y="-38100"/>
            <a:chExt cx="2074719" cy="284205"/>
          </a:xfrm>
        </p:grpSpPr>
        <p:sp>
          <p:nvSpPr>
            <p:cNvPr id="7" name="Freeform 7"/>
            <p:cNvSpPr/>
            <p:nvPr/>
          </p:nvSpPr>
          <p:spPr>
            <a:xfrm>
              <a:off x="0" y="0"/>
              <a:ext cx="2074719" cy="208005"/>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8" name="TextBox 8"/>
            <p:cNvSpPr txBox="1"/>
            <p:nvPr/>
          </p:nvSpPr>
          <p:spPr>
            <a:xfrm>
              <a:off x="0" y="-38100"/>
              <a:ext cx="2074719" cy="284205"/>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Phương pháp</a:t>
              </a:r>
            </a:p>
          </p:txBody>
        </p:sp>
      </p:grpSp>
      <p:grpSp>
        <p:nvGrpSpPr>
          <p:cNvPr id="9" name="Group 9"/>
          <p:cNvGrpSpPr/>
          <p:nvPr/>
        </p:nvGrpSpPr>
        <p:grpSpPr>
          <a:xfrm>
            <a:off x="1028700" y="4622089"/>
            <a:ext cx="8115300" cy="1111671"/>
            <a:chOff x="0" y="-38100"/>
            <a:chExt cx="2074719" cy="284205"/>
          </a:xfrm>
        </p:grpSpPr>
        <p:sp>
          <p:nvSpPr>
            <p:cNvPr id="10" name="Freeform 10"/>
            <p:cNvSpPr/>
            <p:nvPr/>
          </p:nvSpPr>
          <p:spPr>
            <a:xfrm>
              <a:off x="0" y="0"/>
              <a:ext cx="2074719" cy="208005"/>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11" name="TextBox 11"/>
            <p:cNvSpPr txBox="1"/>
            <p:nvPr/>
          </p:nvSpPr>
          <p:spPr>
            <a:xfrm>
              <a:off x="0" y="-38100"/>
              <a:ext cx="2074719" cy="284205"/>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Công cụ sử dụng</a:t>
              </a:r>
            </a:p>
          </p:txBody>
        </p:sp>
      </p:grpSp>
      <p:grpSp>
        <p:nvGrpSpPr>
          <p:cNvPr id="12" name="Group 12"/>
          <p:cNvGrpSpPr/>
          <p:nvPr/>
        </p:nvGrpSpPr>
        <p:grpSpPr>
          <a:xfrm>
            <a:off x="1028700" y="5816703"/>
            <a:ext cx="8115300" cy="1111671"/>
            <a:chOff x="0" y="-38100"/>
            <a:chExt cx="2074719" cy="284205"/>
          </a:xfrm>
        </p:grpSpPr>
        <p:sp>
          <p:nvSpPr>
            <p:cNvPr id="13" name="Freeform 13"/>
            <p:cNvSpPr/>
            <p:nvPr/>
          </p:nvSpPr>
          <p:spPr>
            <a:xfrm>
              <a:off x="0" y="0"/>
              <a:ext cx="2074719" cy="208005"/>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14" name="TextBox 14"/>
            <p:cNvSpPr txBox="1"/>
            <p:nvPr/>
          </p:nvSpPr>
          <p:spPr>
            <a:xfrm>
              <a:off x="0" y="-38100"/>
              <a:ext cx="2074719" cy="284205"/>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Phân tích kết quả</a:t>
              </a:r>
            </a:p>
          </p:txBody>
        </p:sp>
      </p:grpSp>
      <p:grpSp>
        <p:nvGrpSpPr>
          <p:cNvPr id="15" name="Group 15"/>
          <p:cNvGrpSpPr/>
          <p:nvPr/>
        </p:nvGrpSpPr>
        <p:grpSpPr>
          <a:xfrm>
            <a:off x="1028700" y="7011316"/>
            <a:ext cx="8115300" cy="1111671"/>
            <a:chOff x="0" y="-38100"/>
            <a:chExt cx="2074719" cy="284205"/>
          </a:xfrm>
        </p:grpSpPr>
        <p:sp>
          <p:nvSpPr>
            <p:cNvPr id="16" name="Freeform 16"/>
            <p:cNvSpPr/>
            <p:nvPr/>
          </p:nvSpPr>
          <p:spPr>
            <a:xfrm>
              <a:off x="0" y="0"/>
              <a:ext cx="2074719" cy="208005"/>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17" name="TextBox 17"/>
            <p:cNvSpPr txBox="1"/>
            <p:nvPr/>
          </p:nvSpPr>
          <p:spPr>
            <a:xfrm>
              <a:off x="0" y="-38100"/>
              <a:ext cx="2074719" cy="284205"/>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Kết luận</a:t>
              </a:r>
            </a:p>
          </p:txBody>
        </p:sp>
      </p:grpSp>
      <p:sp>
        <p:nvSpPr>
          <p:cNvPr id="18" name="TextBox 18"/>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NỘI DUNG</a:t>
            </a:r>
          </a:p>
        </p:txBody>
      </p:sp>
      <p:sp>
        <p:nvSpPr>
          <p:cNvPr id="19" name="Freeform 19"/>
          <p:cNvSpPr/>
          <p:nvPr/>
        </p:nvSpPr>
        <p:spPr>
          <a:xfrm>
            <a:off x="10251035" y="1114858"/>
            <a:ext cx="7289657" cy="4169218"/>
          </a:xfrm>
          <a:custGeom>
            <a:avLst/>
            <a:gdLst/>
            <a:ahLst/>
            <a:cxnLst/>
            <a:rect l="l" t="t" r="r" b="b"/>
            <a:pathLst>
              <a:path w="7289657" h="4169218">
                <a:moveTo>
                  <a:pt x="0" y="0"/>
                </a:moveTo>
                <a:lnTo>
                  <a:pt x="7289658" y="0"/>
                </a:lnTo>
                <a:lnTo>
                  <a:pt x="7289658" y="4169218"/>
                </a:lnTo>
                <a:lnTo>
                  <a:pt x="0" y="4169218"/>
                </a:lnTo>
                <a:lnTo>
                  <a:pt x="0" y="0"/>
                </a:lnTo>
                <a:close/>
              </a:path>
            </a:pathLst>
          </a:custGeom>
          <a:blipFill>
            <a:blip r:embed="rId4"/>
            <a:stretch>
              <a:fillRect/>
            </a:stretch>
          </a:blipFill>
        </p:spPr>
      </p:sp>
      <p:sp>
        <p:nvSpPr>
          <p:cNvPr id="20" name="Freeform 20"/>
          <p:cNvSpPr/>
          <p:nvPr/>
        </p:nvSpPr>
        <p:spPr>
          <a:xfrm>
            <a:off x="10532428" y="4919060"/>
            <a:ext cx="6726872" cy="3324902"/>
          </a:xfrm>
          <a:custGeom>
            <a:avLst/>
            <a:gdLst/>
            <a:ahLst/>
            <a:cxnLst/>
            <a:rect l="l" t="t" r="r" b="b"/>
            <a:pathLst>
              <a:path w="6726872" h="3324902">
                <a:moveTo>
                  <a:pt x="0" y="0"/>
                </a:moveTo>
                <a:lnTo>
                  <a:pt x="6726872" y="0"/>
                </a:lnTo>
                <a:lnTo>
                  <a:pt x="6726872" y="3324902"/>
                </a:lnTo>
                <a:lnTo>
                  <a:pt x="0" y="3324902"/>
                </a:lnTo>
                <a:lnTo>
                  <a:pt x="0" y="0"/>
                </a:lnTo>
                <a:close/>
              </a:path>
            </a:pathLst>
          </a:custGeom>
          <a:blipFill>
            <a:blip r:embed="rId5"/>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028700" y="2385853"/>
            <a:ext cx="8115300" cy="813614"/>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FD5A4"/>
          </a:solidFill>
          <a:ln w="28575" cap="sq">
            <a:solidFill>
              <a:srgbClr val="000000"/>
            </a:solidFill>
            <a:prstDash val="solid"/>
            <a:miter/>
          </a:ln>
        </p:spPr>
      </p:sp>
      <p:sp>
        <p:nvSpPr>
          <p:cNvPr id="7" name="Freeform 7"/>
          <p:cNvSpPr/>
          <p:nvPr/>
        </p:nvSpPr>
        <p:spPr>
          <a:xfrm>
            <a:off x="1028700" y="3576505"/>
            <a:ext cx="8115300" cy="813614"/>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10" name="Freeform 10"/>
          <p:cNvSpPr/>
          <p:nvPr/>
        </p:nvSpPr>
        <p:spPr>
          <a:xfrm>
            <a:off x="1028700" y="4771118"/>
            <a:ext cx="8115300" cy="813614"/>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13" name="Freeform 13"/>
          <p:cNvSpPr/>
          <p:nvPr/>
        </p:nvSpPr>
        <p:spPr>
          <a:xfrm>
            <a:off x="1028700" y="5965732"/>
            <a:ext cx="8115300" cy="813614"/>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grpSp>
        <p:nvGrpSpPr>
          <p:cNvPr id="15" name="Group 15"/>
          <p:cNvGrpSpPr/>
          <p:nvPr/>
        </p:nvGrpSpPr>
        <p:grpSpPr>
          <a:xfrm>
            <a:off x="1028700" y="7160345"/>
            <a:ext cx="8115300" cy="813614"/>
            <a:chOff x="0" y="0"/>
            <a:chExt cx="2074719" cy="208005"/>
          </a:xfrm>
        </p:grpSpPr>
        <p:sp>
          <p:nvSpPr>
            <p:cNvPr id="16" name="Freeform 16"/>
            <p:cNvSpPr/>
            <p:nvPr/>
          </p:nvSpPr>
          <p:spPr>
            <a:xfrm>
              <a:off x="0" y="0"/>
              <a:ext cx="2074719" cy="208005"/>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17" name="TextBox 17"/>
            <p:cNvSpPr txBox="1"/>
            <p:nvPr/>
          </p:nvSpPr>
          <p:spPr>
            <a:xfrm>
              <a:off x="0" y="-76200"/>
              <a:ext cx="2074719" cy="284205"/>
            </a:xfrm>
            <a:prstGeom prst="rect">
              <a:avLst/>
            </a:prstGeom>
          </p:spPr>
          <p:txBody>
            <a:bodyPr lIns="50800" tIns="50800" rIns="50800" bIns="50800" rtlCol="0" anchor="ctr"/>
            <a:lstStyle/>
            <a:p>
              <a:pPr algn="ctr">
                <a:lnSpc>
                  <a:spcPts val="4339"/>
                </a:lnSpc>
              </a:pPr>
              <a:endParaRPr lang="en-US" sz="3099">
                <a:solidFill>
                  <a:srgbClr val="000000"/>
                </a:solidFill>
                <a:latin typeface="Asap"/>
                <a:ea typeface="Asap"/>
                <a:cs typeface="Asap"/>
                <a:sym typeface="Asap"/>
              </a:endParaRPr>
            </a:p>
          </p:txBody>
        </p:sp>
      </p:grpSp>
      <p:sp>
        <p:nvSpPr>
          <p:cNvPr id="18" name="TextBox 18"/>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NỘI DUNG</a:t>
            </a:r>
          </a:p>
        </p:txBody>
      </p:sp>
      <p:sp>
        <p:nvSpPr>
          <p:cNvPr id="19" name="Freeform 19"/>
          <p:cNvSpPr/>
          <p:nvPr/>
        </p:nvSpPr>
        <p:spPr>
          <a:xfrm>
            <a:off x="10251035" y="1114858"/>
            <a:ext cx="7289657" cy="4169218"/>
          </a:xfrm>
          <a:custGeom>
            <a:avLst/>
            <a:gdLst/>
            <a:ahLst/>
            <a:cxnLst/>
            <a:rect l="l" t="t" r="r" b="b"/>
            <a:pathLst>
              <a:path w="7289657" h="4169218">
                <a:moveTo>
                  <a:pt x="0" y="0"/>
                </a:moveTo>
                <a:lnTo>
                  <a:pt x="7289658" y="0"/>
                </a:lnTo>
                <a:lnTo>
                  <a:pt x="7289658" y="4169218"/>
                </a:lnTo>
                <a:lnTo>
                  <a:pt x="0" y="4169218"/>
                </a:lnTo>
                <a:lnTo>
                  <a:pt x="0" y="0"/>
                </a:lnTo>
                <a:close/>
              </a:path>
            </a:pathLst>
          </a:custGeom>
          <a:blipFill>
            <a:blip r:embed="rId4"/>
            <a:stretch>
              <a:fillRect/>
            </a:stretch>
          </a:blipFill>
        </p:spPr>
      </p:sp>
      <p:sp>
        <p:nvSpPr>
          <p:cNvPr id="20" name="Freeform 20"/>
          <p:cNvSpPr/>
          <p:nvPr/>
        </p:nvSpPr>
        <p:spPr>
          <a:xfrm>
            <a:off x="10532428" y="4919060"/>
            <a:ext cx="6726872" cy="3324902"/>
          </a:xfrm>
          <a:custGeom>
            <a:avLst/>
            <a:gdLst/>
            <a:ahLst/>
            <a:cxnLst/>
            <a:rect l="l" t="t" r="r" b="b"/>
            <a:pathLst>
              <a:path w="6726872" h="3324902">
                <a:moveTo>
                  <a:pt x="0" y="0"/>
                </a:moveTo>
                <a:lnTo>
                  <a:pt x="6726872" y="0"/>
                </a:lnTo>
                <a:lnTo>
                  <a:pt x="6726872" y="3324902"/>
                </a:lnTo>
                <a:lnTo>
                  <a:pt x="0" y="3324902"/>
                </a:lnTo>
                <a:lnTo>
                  <a:pt x="0" y="0"/>
                </a:lnTo>
                <a:close/>
              </a:path>
            </a:pathLst>
          </a:custGeom>
          <a:blipFill>
            <a:blip r:embed="rId5"/>
            <a:stretch>
              <a:fillRect/>
            </a:stretch>
          </a:blipFill>
        </p:spPr>
      </p:sp>
      <p:sp>
        <p:nvSpPr>
          <p:cNvPr id="21" name="TextBox 5"/>
          <p:cNvSpPr txBox="1"/>
          <p:nvPr/>
        </p:nvSpPr>
        <p:spPr>
          <a:xfrm>
            <a:off x="1028700" y="2236824"/>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Giới thiệu</a:t>
            </a:r>
          </a:p>
        </p:txBody>
      </p:sp>
      <p:sp>
        <p:nvSpPr>
          <p:cNvPr id="22" name="TextBox 8"/>
          <p:cNvSpPr txBox="1"/>
          <p:nvPr/>
        </p:nvSpPr>
        <p:spPr>
          <a:xfrm>
            <a:off x="1028700" y="3427476"/>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Phương pháp</a:t>
            </a:r>
          </a:p>
        </p:txBody>
      </p:sp>
      <p:sp>
        <p:nvSpPr>
          <p:cNvPr id="23" name="TextBox 11"/>
          <p:cNvSpPr txBox="1"/>
          <p:nvPr/>
        </p:nvSpPr>
        <p:spPr>
          <a:xfrm>
            <a:off x="1028700" y="4622089"/>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Công cụ sử dụng</a:t>
            </a:r>
          </a:p>
        </p:txBody>
      </p:sp>
      <p:sp>
        <p:nvSpPr>
          <p:cNvPr id="24" name="TextBox 14"/>
          <p:cNvSpPr txBox="1"/>
          <p:nvPr/>
        </p:nvSpPr>
        <p:spPr>
          <a:xfrm>
            <a:off x="1028700" y="5816703"/>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Phân tích kết quả</a:t>
            </a:r>
          </a:p>
        </p:txBody>
      </p:sp>
      <p:sp>
        <p:nvSpPr>
          <p:cNvPr id="25" name="TextBox 17"/>
          <p:cNvSpPr txBox="1"/>
          <p:nvPr/>
        </p:nvSpPr>
        <p:spPr>
          <a:xfrm>
            <a:off x="1028700" y="7011316"/>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Kết luận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GIỚI THIỆU</a:t>
            </a:r>
          </a:p>
        </p:txBody>
      </p:sp>
      <p:sp>
        <p:nvSpPr>
          <p:cNvPr id="4" name="Freeform 4"/>
          <p:cNvSpPr/>
          <p:nvPr/>
        </p:nvSpPr>
        <p:spPr>
          <a:xfrm>
            <a:off x="10251035" y="1114858"/>
            <a:ext cx="7289657" cy="4169218"/>
          </a:xfrm>
          <a:custGeom>
            <a:avLst/>
            <a:gdLst/>
            <a:ahLst/>
            <a:cxnLst/>
            <a:rect l="l" t="t" r="r" b="b"/>
            <a:pathLst>
              <a:path w="7289657" h="4169218">
                <a:moveTo>
                  <a:pt x="0" y="0"/>
                </a:moveTo>
                <a:lnTo>
                  <a:pt x="7289658" y="0"/>
                </a:lnTo>
                <a:lnTo>
                  <a:pt x="7289658" y="4169218"/>
                </a:lnTo>
                <a:lnTo>
                  <a:pt x="0" y="4169218"/>
                </a:lnTo>
                <a:lnTo>
                  <a:pt x="0" y="0"/>
                </a:lnTo>
                <a:close/>
              </a:path>
            </a:pathLst>
          </a:custGeom>
          <a:blipFill>
            <a:blip r:embed="rId4"/>
            <a:stretch>
              <a:fillRect/>
            </a:stretch>
          </a:blipFill>
        </p:spPr>
      </p:sp>
      <p:sp>
        <p:nvSpPr>
          <p:cNvPr id="5" name="Freeform 5"/>
          <p:cNvSpPr/>
          <p:nvPr/>
        </p:nvSpPr>
        <p:spPr>
          <a:xfrm>
            <a:off x="10532428" y="4919060"/>
            <a:ext cx="6726872" cy="3324902"/>
          </a:xfrm>
          <a:custGeom>
            <a:avLst/>
            <a:gdLst/>
            <a:ahLst/>
            <a:cxnLst/>
            <a:rect l="l" t="t" r="r" b="b"/>
            <a:pathLst>
              <a:path w="6726872" h="3324902">
                <a:moveTo>
                  <a:pt x="0" y="0"/>
                </a:moveTo>
                <a:lnTo>
                  <a:pt x="6726872" y="0"/>
                </a:lnTo>
                <a:lnTo>
                  <a:pt x="6726872" y="3324902"/>
                </a:lnTo>
                <a:lnTo>
                  <a:pt x="0" y="3324902"/>
                </a:lnTo>
                <a:lnTo>
                  <a:pt x="0" y="0"/>
                </a:lnTo>
                <a:close/>
              </a:path>
            </a:pathLst>
          </a:custGeom>
          <a:blipFill>
            <a:blip r:embed="rId5"/>
            <a:stretch>
              <a:fillRect/>
            </a:stretch>
          </a:blipFill>
        </p:spPr>
      </p:sp>
      <p:sp>
        <p:nvSpPr>
          <p:cNvPr id="6" name="TextBox 6"/>
          <p:cNvSpPr txBox="1"/>
          <p:nvPr/>
        </p:nvSpPr>
        <p:spPr>
          <a:xfrm>
            <a:off x="595157" y="2616094"/>
            <a:ext cx="8115300" cy="5307389"/>
          </a:xfrm>
          <a:prstGeom prst="rect">
            <a:avLst/>
          </a:prstGeom>
        </p:spPr>
        <p:txBody>
          <a:bodyPr lIns="0" tIns="0" rIns="0" bIns="0" rtlCol="0" anchor="t">
            <a:spAutoFit/>
          </a:bodyPr>
          <a:lstStyle/>
          <a:p>
            <a:pPr algn="l">
              <a:lnSpc>
                <a:spcPts val="1568"/>
              </a:lnSpc>
            </a:pPr>
            <a:endParaRPr/>
          </a:p>
          <a:p>
            <a:pPr marL="696222" lvl="1" indent="-348111" algn="l">
              <a:lnSpc>
                <a:spcPts val="4514"/>
              </a:lnSpc>
              <a:buFont typeface="Arial"/>
              <a:buChar char="•"/>
            </a:pPr>
            <a:r>
              <a:rPr lang="en-US" sz="3224" spc="74">
                <a:solidFill>
                  <a:srgbClr val="343434"/>
                </a:solidFill>
                <a:latin typeface="Asap"/>
                <a:ea typeface="Asap"/>
                <a:cs typeface="Asap"/>
                <a:sym typeface="Asap"/>
              </a:rPr>
              <a:t>CSMA là phương thức truy cập kênh giúp nhiều thiết bị chia sẻ kênh truyền dữ liệu, giảm xung đột.</a:t>
            </a:r>
          </a:p>
          <a:p>
            <a:pPr marL="696222" lvl="1" indent="-348111" algn="l">
              <a:lnSpc>
                <a:spcPts val="4514"/>
              </a:lnSpc>
              <a:buFont typeface="Arial"/>
              <a:buChar char="•"/>
            </a:pPr>
            <a:r>
              <a:rPr lang="en-US" sz="3224" spc="74">
                <a:solidFill>
                  <a:srgbClr val="343434"/>
                </a:solidFill>
                <a:latin typeface="Asap"/>
                <a:ea typeface="Asap"/>
                <a:cs typeface="Asap"/>
                <a:sym typeface="Asap"/>
              </a:rPr>
              <a:t>Ưu điểm: Nâng cao hiệu suất, đơn giản, chi phí thấp, áp dụng cho mạng có dây và không dây.</a:t>
            </a:r>
          </a:p>
          <a:p>
            <a:pPr marL="696222" lvl="1" indent="-348111" algn="l">
              <a:lnSpc>
                <a:spcPts val="4514"/>
              </a:lnSpc>
              <a:buFont typeface="Arial"/>
              <a:buChar char="•"/>
            </a:pPr>
            <a:r>
              <a:rPr lang="en-US" sz="3224" spc="74">
                <a:solidFill>
                  <a:srgbClr val="343434"/>
                </a:solidFill>
                <a:latin typeface="Asap"/>
                <a:ea typeface="Asap"/>
                <a:cs typeface="Asap"/>
                <a:sym typeface="Asap"/>
              </a:rPr>
              <a:t>Hạn chế: Khi nhiều thiết bị hoặc lưu lượng cao, vẫn xảy ra chờ kênh và xung đột → độ trễ tăng, hiệu suất giảm.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9540162" y="1953486"/>
            <a:ext cx="7719138" cy="6126729"/>
          </a:xfrm>
          <a:custGeom>
            <a:avLst/>
            <a:gdLst/>
            <a:ahLst/>
            <a:cxnLst/>
            <a:rect l="l" t="t" r="r" b="b"/>
            <a:pathLst>
              <a:path w="7719138" h="6126729">
                <a:moveTo>
                  <a:pt x="0" y="0"/>
                </a:moveTo>
                <a:lnTo>
                  <a:pt x="7719138" y="0"/>
                </a:lnTo>
                <a:lnTo>
                  <a:pt x="7719138" y="6126729"/>
                </a:lnTo>
                <a:lnTo>
                  <a:pt x="0" y="6126729"/>
                </a:lnTo>
                <a:lnTo>
                  <a:pt x="0" y="0"/>
                </a:lnTo>
                <a:close/>
              </a:path>
            </a:pathLst>
          </a:custGeom>
          <a:blipFill>
            <a:blip r:embed="rId4"/>
            <a:stretch>
              <a:fillRect/>
            </a:stretch>
          </a:blipFill>
        </p:spPr>
      </p:sp>
      <p:sp>
        <p:nvSpPr>
          <p:cNvPr id="4" name="TextBox 4"/>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CƠ CHẾ HOẠT ĐỘNG</a:t>
            </a:r>
          </a:p>
        </p:txBody>
      </p:sp>
      <p:sp>
        <p:nvSpPr>
          <p:cNvPr id="5" name="TextBox 5"/>
          <p:cNvSpPr txBox="1"/>
          <p:nvPr/>
        </p:nvSpPr>
        <p:spPr>
          <a:xfrm>
            <a:off x="595157" y="2427620"/>
            <a:ext cx="8115300" cy="5878889"/>
          </a:xfrm>
          <a:prstGeom prst="rect">
            <a:avLst/>
          </a:prstGeom>
        </p:spPr>
        <p:txBody>
          <a:bodyPr lIns="0" tIns="0" rIns="0" bIns="0" rtlCol="0" anchor="t">
            <a:spAutoFit/>
          </a:bodyPr>
          <a:lstStyle/>
          <a:p>
            <a:pPr algn="l">
              <a:lnSpc>
                <a:spcPts val="1568"/>
              </a:lnSpc>
            </a:pPr>
            <a:endParaRPr/>
          </a:p>
          <a:p>
            <a:pPr marL="696222" lvl="1" indent="-348111" algn="l">
              <a:lnSpc>
                <a:spcPts val="4514"/>
              </a:lnSpc>
              <a:buFont typeface="Arial"/>
              <a:buChar char="•"/>
            </a:pPr>
            <a:r>
              <a:rPr lang="en-US" sz="3224" spc="74">
                <a:solidFill>
                  <a:srgbClr val="343434"/>
                </a:solidFill>
                <a:latin typeface="Asap"/>
                <a:ea typeface="Asap"/>
                <a:cs typeface="Asap"/>
                <a:sym typeface="Asap"/>
              </a:rPr>
              <a:t>Truy cập kênh &amp; phát hiện xung đột: Nút kiểm tra kênh trước khi truyền, giám sát tín hiệu để phát hiện collision.</a:t>
            </a:r>
          </a:p>
          <a:p>
            <a:pPr marL="696222" lvl="1" indent="-348111" algn="l">
              <a:lnSpc>
                <a:spcPts val="4514"/>
              </a:lnSpc>
              <a:buFont typeface="Arial"/>
              <a:buChar char="•"/>
            </a:pPr>
            <a:r>
              <a:rPr lang="en-US" sz="3224" spc="74">
                <a:solidFill>
                  <a:srgbClr val="343434"/>
                </a:solidFill>
                <a:latin typeface="Asap"/>
                <a:ea typeface="Asap"/>
                <a:cs typeface="Asap"/>
                <a:sym typeface="Asap"/>
              </a:rPr>
              <a:t>Xử lý xung đột: Nếu xảy ra collision, dừng truyền, gửi jam signal và tăng bộ đếm thử truyền lại.</a:t>
            </a:r>
          </a:p>
          <a:p>
            <a:pPr marL="696222" lvl="1" indent="-348111" algn="l">
              <a:lnSpc>
                <a:spcPts val="4514"/>
              </a:lnSpc>
              <a:buFont typeface="Arial"/>
              <a:buChar char="•"/>
            </a:pPr>
            <a:r>
              <a:rPr lang="en-US" sz="3224" spc="74">
                <a:solidFill>
                  <a:srgbClr val="343434"/>
                </a:solidFill>
                <a:latin typeface="Asap"/>
                <a:ea typeface="Asap"/>
                <a:cs typeface="Asap"/>
                <a:sym typeface="Asap"/>
              </a:rPr>
              <a:t>Thử lại &amp; giới hạn: Sau thời gian chờ ngẫu nhiên, thử truyền lại; vượt giới hạn số lần → gói bị loại bỏ.</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9567708" y="2328920"/>
            <a:ext cx="7691592" cy="6104865"/>
          </a:xfrm>
          <a:custGeom>
            <a:avLst/>
            <a:gdLst/>
            <a:ahLst/>
            <a:cxnLst/>
            <a:rect l="l" t="t" r="r" b="b"/>
            <a:pathLst>
              <a:path w="7691592" h="6104865">
                <a:moveTo>
                  <a:pt x="0" y="0"/>
                </a:moveTo>
                <a:lnTo>
                  <a:pt x="7691592" y="0"/>
                </a:lnTo>
                <a:lnTo>
                  <a:pt x="7691592" y="6104865"/>
                </a:lnTo>
                <a:lnTo>
                  <a:pt x="0" y="6104865"/>
                </a:lnTo>
                <a:lnTo>
                  <a:pt x="0" y="0"/>
                </a:lnTo>
                <a:close/>
              </a:path>
            </a:pathLst>
          </a:custGeom>
          <a:blipFill>
            <a:blip r:embed="rId4"/>
            <a:stretch>
              <a:fillRect/>
            </a:stretch>
          </a:blipFill>
        </p:spPr>
      </p:sp>
      <p:sp>
        <p:nvSpPr>
          <p:cNvPr id="4" name="TextBox 4"/>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MỤC TIÊU NGHIÊN CỨU</a:t>
            </a:r>
          </a:p>
        </p:txBody>
      </p:sp>
      <p:sp>
        <p:nvSpPr>
          <p:cNvPr id="5" name="TextBox 5"/>
          <p:cNvSpPr txBox="1"/>
          <p:nvPr/>
        </p:nvSpPr>
        <p:spPr>
          <a:xfrm>
            <a:off x="595157" y="2300345"/>
            <a:ext cx="8115300" cy="6553076"/>
          </a:xfrm>
          <a:prstGeom prst="rect">
            <a:avLst/>
          </a:prstGeom>
        </p:spPr>
        <p:txBody>
          <a:bodyPr lIns="0" tIns="0" rIns="0" bIns="0" rtlCol="0" anchor="t">
            <a:spAutoFit/>
          </a:bodyPr>
          <a:lstStyle/>
          <a:p>
            <a:pPr algn="l">
              <a:lnSpc>
                <a:spcPts val="1568"/>
              </a:lnSpc>
            </a:pPr>
            <a:endParaRPr/>
          </a:p>
          <a:p>
            <a:pPr marL="696222" lvl="1" indent="-348111" algn="l">
              <a:lnSpc>
                <a:spcPts val="4514"/>
              </a:lnSpc>
              <a:buFont typeface="Arial"/>
              <a:buChar char="•"/>
            </a:pPr>
            <a:r>
              <a:rPr lang="en-US" sz="3224" spc="74">
                <a:solidFill>
                  <a:srgbClr val="343434"/>
                </a:solidFill>
                <a:latin typeface="Asap"/>
                <a:ea typeface="Asap"/>
                <a:cs typeface="Asap"/>
                <a:sym typeface="Asap"/>
              </a:rPr>
              <a:t>Sử dụng mô hình mô phỏng mạng Ethernet và cơ chế truy cập đa truy nhập cảm nhận sóng mang (CSMA) trong NS-3.</a:t>
            </a:r>
          </a:p>
          <a:p>
            <a:pPr marL="696222" lvl="1" indent="-348111" algn="l">
              <a:lnSpc>
                <a:spcPts val="4514"/>
              </a:lnSpc>
              <a:buFont typeface="Arial"/>
              <a:buChar char="•"/>
            </a:pPr>
            <a:r>
              <a:rPr lang="en-US" sz="3224" spc="74" smtClean="0">
                <a:solidFill>
                  <a:srgbClr val="343434"/>
                </a:solidFill>
                <a:latin typeface="Asap"/>
                <a:ea typeface="Asap"/>
                <a:cs typeface="Asap"/>
                <a:sym typeface="Asap"/>
              </a:rPr>
              <a:t>Đánh </a:t>
            </a:r>
            <a:r>
              <a:rPr lang="en-US" sz="3224" spc="74">
                <a:solidFill>
                  <a:srgbClr val="343434"/>
                </a:solidFill>
                <a:latin typeface="Asap"/>
                <a:ea typeface="Asap"/>
                <a:cs typeface="Asap"/>
                <a:sym typeface="Asap"/>
              </a:rPr>
              <a:t>giá hiệu suất CSMA trên mạng Ethernet dựa trên thông lượng, số gói nhận thành công, tỉ lệ giao thành công (PDR) và packet loss, phản ánh khả năng khai thác băng thông và độ ổn định của TCP và UDP trong các tình huống.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028700" y="2385853"/>
            <a:ext cx="8115300" cy="813614"/>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7" name="Freeform 7"/>
          <p:cNvSpPr/>
          <p:nvPr/>
        </p:nvSpPr>
        <p:spPr>
          <a:xfrm>
            <a:off x="1028700" y="3576505"/>
            <a:ext cx="8115300" cy="813614"/>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FD5A4"/>
          </a:solidFill>
          <a:ln w="28575" cap="sq">
            <a:solidFill>
              <a:srgbClr val="000000"/>
            </a:solidFill>
            <a:prstDash val="solid"/>
            <a:miter/>
          </a:ln>
        </p:spPr>
      </p:sp>
      <p:sp>
        <p:nvSpPr>
          <p:cNvPr id="10" name="Freeform 10"/>
          <p:cNvSpPr/>
          <p:nvPr/>
        </p:nvSpPr>
        <p:spPr>
          <a:xfrm>
            <a:off x="1028700" y="4771118"/>
            <a:ext cx="8115300" cy="813614"/>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grpSp>
        <p:nvGrpSpPr>
          <p:cNvPr id="12" name="Group 12"/>
          <p:cNvGrpSpPr/>
          <p:nvPr/>
        </p:nvGrpSpPr>
        <p:grpSpPr>
          <a:xfrm>
            <a:off x="1028700" y="5667675"/>
            <a:ext cx="8115300" cy="1111671"/>
            <a:chOff x="0" y="-76200"/>
            <a:chExt cx="2074719" cy="284205"/>
          </a:xfrm>
        </p:grpSpPr>
        <p:sp>
          <p:nvSpPr>
            <p:cNvPr id="13" name="Freeform 13"/>
            <p:cNvSpPr/>
            <p:nvPr/>
          </p:nvSpPr>
          <p:spPr>
            <a:xfrm>
              <a:off x="0" y="0"/>
              <a:ext cx="2074719" cy="208005"/>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14" name="TextBox 14"/>
            <p:cNvSpPr txBox="1"/>
            <p:nvPr/>
          </p:nvSpPr>
          <p:spPr>
            <a:xfrm>
              <a:off x="0" y="-76200"/>
              <a:ext cx="2074719" cy="284205"/>
            </a:xfrm>
            <a:prstGeom prst="rect">
              <a:avLst/>
            </a:prstGeom>
          </p:spPr>
          <p:txBody>
            <a:bodyPr lIns="50800" tIns="50800" rIns="50800" bIns="50800" rtlCol="0" anchor="ctr"/>
            <a:lstStyle/>
            <a:p>
              <a:pPr algn="ctr">
                <a:lnSpc>
                  <a:spcPts val="4339"/>
                </a:lnSpc>
              </a:pPr>
              <a:endParaRPr lang="en-US" sz="3099">
                <a:solidFill>
                  <a:srgbClr val="000000"/>
                </a:solidFill>
                <a:latin typeface="Asap"/>
                <a:ea typeface="Asap"/>
                <a:cs typeface="Asap"/>
                <a:sym typeface="Asap"/>
              </a:endParaRPr>
            </a:p>
          </p:txBody>
        </p:sp>
      </p:grpSp>
      <p:grpSp>
        <p:nvGrpSpPr>
          <p:cNvPr id="15" name="Group 15"/>
          <p:cNvGrpSpPr/>
          <p:nvPr/>
        </p:nvGrpSpPr>
        <p:grpSpPr>
          <a:xfrm>
            <a:off x="1028700" y="7160345"/>
            <a:ext cx="8115300" cy="813614"/>
            <a:chOff x="0" y="0"/>
            <a:chExt cx="2074719" cy="208005"/>
          </a:xfrm>
        </p:grpSpPr>
        <p:sp>
          <p:nvSpPr>
            <p:cNvPr id="16" name="Freeform 16"/>
            <p:cNvSpPr/>
            <p:nvPr/>
          </p:nvSpPr>
          <p:spPr>
            <a:xfrm>
              <a:off x="0" y="0"/>
              <a:ext cx="2074719" cy="208005"/>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17" name="TextBox 17"/>
            <p:cNvSpPr txBox="1"/>
            <p:nvPr/>
          </p:nvSpPr>
          <p:spPr>
            <a:xfrm>
              <a:off x="0" y="-76200"/>
              <a:ext cx="2074719" cy="284205"/>
            </a:xfrm>
            <a:prstGeom prst="rect">
              <a:avLst/>
            </a:prstGeom>
          </p:spPr>
          <p:txBody>
            <a:bodyPr lIns="50800" tIns="50800" rIns="50800" bIns="50800" rtlCol="0" anchor="ctr"/>
            <a:lstStyle/>
            <a:p>
              <a:pPr algn="ctr">
                <a:lnSpc>
                  <a:spcPts val="4339"/>
                </a:lnSpc>
              </a:pPr>
              <a:endParaRPr lang="en-US" sz="3099">
                <a:solidFill>
                  <a:srgbClr val="000000"/>
                </a:solidFill>
                <a:latin typeface="Asap"/>
                <a:ea typeface="Asap"/>
                <a:cs typeface="Asap"/>
                <a:sym typeface="Asap"/>
              </a:endParaRPr>
            </a:p>
          </p:txBody>
        </p:sp>
      </p:grpSp>
      <p:sp>
        <p:nvSpPr>
          <p:cNvPr id="18" name="TextBox 18"/>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NỘI DUNG</a:t>
            </a:r>
          </a:p>
        </p:txBody>
      </p:sp>
      <p:sp>
        <p:nvSpPr>
          <p:cNvPr id="19" name="Freeform 19"/>
          <p:cNvSpPr/>
          <p:nvPr/>
        </p:nvSpPr>
        <p:spPr>
          <a:xfrm>
            <a:off x="10251035" y="1114858"/>
            <a:ext cx="7289657" cy="4169218"/>
          </a:xfrm>
          <a:custGeom>
            <a:avLst/>
            <a:gdLst/>
            <a:ahLst/>
            <a:cxnLst/>
            <a:rect l="l" t="t" r="r" b="b"/>
            <a:pathLst>
              <a:path w="7289657" h="4169218">
                <a:moveTo>
                  <a:pt x="0" y="0"/>
                </a:moveTo>
                <a:lnTo>
                  <a:pt x="7289658" y="0"/>
                </a:lnTo>
                <a:lnTo>
                  <a:pt x="7289658" y="4169218"/>
                </a:lnTo>
                <a:lnTo>
                  <a:pt x="0" y="4169218"/>
                </a:lnTo>
                <a:lnTo>
                  <a:pt x="0" y="0"/>
                </a:lnTo>
                <a:close/>
              </a:path>
            </a:pathLst>
          </a:custGeom>
          <a:blipFill>
            <a:blip r:embed="rId4"/>
            <a:stretch>
              <a:fillRect/>
            </a:stretch>
          </a:blipFill>
        </p:spPr>
      </p:sp>
      <p:sp>
        <p:nvSpPr>
          <p:cNvPr id="20" name="Freeform 20"/>
          <p:cNvSpPr/>
          <p:nvPr/>
        </p:nvSpPr>
        <p:spPr>
          <a:xfrm>
            <a:off x="10532428" y="4919060"/>
            <a:ext cx="6726872" cy="3324902"/>
          </a:xfrm>
          <a:custGeom>
            <a:avLst/>
            <a:gdLst/>
            <a:ahLst/>
            <a:cxnLst/>
            <a:rect l="l" t="t" r="r" b="b"/>
            <a:pathLst>
              <a:path w="6726872" h="3324902">
                <a:moveTo>
                  <a:pt x="0" y="0"/>
                </a:moveTo>
                <a:lnTo>
                  <a:pt x="6726872" y="0"/>
                </a:lnTo>
                <a:lnTo>
                  <a:pt x="6726872" y="3324902"/>
                </a:lnTo>
                <a:lnTo>
                  <a:pt x="0" y="3324902"/>
                </a:lnTo>
                <a:lnTo>
                  <a:pt x="0" y="0"/>
                </a:lnTo>
                <a:close/>
              </a:path>
            </a:pathLst>
          </a:custGeom>
          <a:blipFill>
            <a:blip r:embed="rId5"/>
            <a:stretch>
              <a:fillRect/>
            </a:stretch>
          </a:blipFill>
        </p:spPr>
      </p:sp>
      <p:sp>
        <p:nvSpPr>
          <p:cNvPr id="21" name="TextBox 5"/>
          <p:cNvSpPr txBox="1"/>
          <p:nvPr/>
        </p:nvSpPr>
        <p:spPr>
          <a:xfrm>
            <a:off x="1028700" y="2236824"/>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Giới thiệu</a:t>
            </a:r>
          </a:p>
        </p:txBody>
      </p:sp>
      <p:sp>
        <p:nvSpPr>
          <p:cNvPr id="22" name="TextBox 8"/>
          <p:cNvSpPr txBox="1"/>
          <p:nvPr/>
        </p:nvSpPr>
        <p:spPr>
          <a:xfrm>
            <a:off x="1028700" y="3427476"/>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Phương pháp</a:t>
            </a:r>
          </a:p>
        </p:txBody>
      </p:sp>
      <p:sp>
        <p:nvSpPr>
          <p:cNvPr id="24" name="TextBox 11"/>
          <p:cNvSpPr txBox="1"/>
          <p:nvPr/>
        </p:nvSpPr>
        <p:spPr>
          <a:xfrm>
            <a:off x="1028700" y="4622089"/>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Công cụ sử dụng</a:t>
            </a:r>
          </a:p>
        </p:txBody>
      </p:sp>
      <p:sp>
        <p:nvSpPr>
          <p:cNvPr id="25" name="TextBox 14"/>
          <p:cNvSpPr txBox="1"/>
          <p:nvPr/>
        </p:nvSpPr>
        <p:spPr>
          <a:xfrm>
            <a:off x="1028700" y="5816703"/>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Phân tích kết quả</a:t>
            </a:r>
          </a:p>
        </p:txBody>
      </p:sp>
      <p:sp>
        <p:nvSpPr>
          <p:cNvPr id="26" name="TextBox 17"/>
          <p:cNvSpPr txBox="1"/>
          <p:nvPr/>
        </p:nvSpPr>
        <p:spPr>
          <a:xfrm>
            <a:off x="1028700" y="7011316"/>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Kết luận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8906148" y="3765695"/>
            <a:ext cx="8353152" cy="3231316"/>
          </a:xfrm>
          <a:custGeom>
            <a:avLst/>
            <a:gdLst/>
            <a:ahLst/>
            <a:cxnLst/>
            <a:rect l="l" t="t" r="r" b="b"/>
            <a:pathLst>
              <a:path w="8353152" h="3231316">
                <a:moveTo>
                  <a:pt x="0" y="0"/>
                </a:moveTo>
                <a:lnTo>
                  <a:pt x="8353152" y="0"/>
                </a:lnTo>
                <a:lnTo>
                  <a:pt x="8353152" y="3231315"/>
                </a:lnTo>
                <a:lnTo>
                  <a:pt x="0" y="3231315"/>
                </a:lnTo>
                <a:lnTo>
                  <a:pt x="0" y="0"/>
                </a:lnTo>
                <a:close/>
              </a:path>
            </a:pathLst>
          </a:custGeom>
          <a:blipFill>
            <a:blip r:embed="rId4"/>
            <a:stretch>
              <a:fillRect/>
            </a:stretch>
          </a:blipFill>
        </p:spPr>
      </p:sp>
      <p:sp>
        <p:nvSpPr>
          <p:cNvPr id="4" name="TextBox 4"/>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MÔ HÌNH PHƯƠNG THỨC CSMA</a:t>
            </a:r>
          </a:p>
        </p:txBody>
      </p:sp>
      <p:sp>
        <p:nvSpPr>
          <p:cNvPr id="5" name="TextBox 5"/>
          <p:cNvSpPr txBox="1"/>
          <p:nvPr/>
        </p:nvSpPr>
        <p:spPr>
          <a:xfrm>
            <a:off x="595157" y="2999120"/>
            <a:ext cx="7809279" cy="4735889"/>
          </a:xfrm>
          <a:prstGeom prst="rect">
            <a:avLst/>
          </a:prstGeom>
        </p:spPr>
        <p:txBody>
          <a:bodyPr lIns="0" tIns="0" rIns="0" bIns="0" rtlCol="0" anchor="t">
            <a:spAutoFit/>
          </a:bodyPr>
          <a:lstStyle/>
          <a:p>
            <a:pPr algn="l">
              <a:lnSpc>
                <a:spcPts val="1568"/>
              </a:lnSpc>
            </a:pPr>
            <a:endParaRPr/>
          </a:p>
          <a:p>
            <a:pPr marL="696222" lvl="1" indent="-348111" algn="l">
              <a:lnSpc>
                <a:spcPts val="4514"/>
              </a:lnSpc>
              <a:buFont typeface="Arial"/>
              <a:buChar char="•"/>
            </a:pPr>
            <a:r>
              <a:rPr lang="en-US" sz="3224" spc="74">
                <a:solidFill>
                  <a:srgbClr val="343434"/>
                </a:solidFill>
                <a:latin typeface="Asap"/>
                <a:ea typeface="Asap"/>
                <a:cs typeface="Asap"/>
                <a:sym typeface="Asap"/>
              </a:rPr>
              <a:t>Send / SendFrom: Khởi tạo quá trình gửi dữ liệu.</a:t>
            </a:r>
          </a:p>
          <a:p>
            <a:pPr marL="696222" lvl="1" indent="-348111" algn="l">
              <a:lnSpc>
                <a:spcPts val="4514"/>
              </a:lnSpc>
              <a:buFont typeface="Arial"/>
              <a:buChar char="•"/>
            </a:pPr>
            <a:r>
              <a:rPr lang="en-US" sz="3224" spc="74">
                <a:solidFill>
                  <a:srgbClr val="343434"/>
                </a:solidFill>
                <a:latin typeface="Asap"/>
                <a:ea typeface="Asap"/>
                <a:cs typeface="Asap"/>
                <a:sym typeface="Asap"/>
              </a:rPr>
              <a:t>TransmitStart / TransmitAbort: Bắt đầu hoặc hủy quá trình truyền khi gặp sự cố.</a:t>
            </a:r>
          </a:p>
          <a:p>
            <a:pPr marL="696222" lvl="1" indent="-348111" algn="l">
              <a:lnSpc>
                <a:spcPts val="4514"/>
              </a:lnSpc>
              <a:buFont typeface="Arial"/>
              <a:buChar char="•"/>
            </a:pPr>
            <a:r>
              <a:rPr lang="en-US" sz="3224" spc="74">
                <a:solidFill>
                  <a:srgbClr val="343434"/>
                </a:solidFill>
                <a:latin typeface="Asap"/>
                <a:ea typeface="Asap"/>
                <a:cs typeface="Asap"/>
                <a:sym typeface="Asap"/>
              </a:rPr>
              <a:t>TransmitReady / TransmitComplete Event: Thông báo thiết bị sẵn sàng truyền và hoàn thành truyền gói.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8669554" y="3078946"/>
            <a:ext cx="8589746" cy="4604812"/>
          </a:xfrm>
          <a:custGeom>
            <a:avLst/>
            <a:gdLst/>
            <a:ahLst/>
            <a:cxnLst/>
            <a:rect l="l" t="t" r="r" b="b"/>
            <a:pathLst>
              <a:path w="8589746" h="4604812">
                <a:moveTo>
                  <a:pt x="0" y="0"/>
                </a:moveTo>
                <a:lnTo>
                  <a:pt x="8589746" y="0"/>
                </a:lnTo>
                <a:lnTo>
                  <a:pt x="8589746" y="4604813"/>
                </a:lnTo>
                <a:lnTo>
                  <a:pt x="0" y="4604813"/>
                </a:lnTo>
                <a:lnTo>
                  <a:pt x="0" y="0"/>
                </a:lnTo>
                <a:close/>
              </a:path>
            </a:pathLst>
          </a:custGeom>
          <a:blipFill>
            <a:blip r:embed="rId4"/>
            <a:stretch>
              <a:fillRect/>
            </a:stretch>
          </a:blipFill>
        </p:spPr>
      </p:sp>
      <p:sp>
        <p:nvSpPr>
          <p:cNvPr id="4" name="TextBox 4"/>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SƠ ĐỒ TOPO MÔ PHỎNG</a:t>
            </a:r>
          </a:p>
        </p:txBody>
      </p:sp>
      <p:sp>
        <p:nvSpPr>
          <p:cNvPr id="5" name="TextBox 5"/>
          <p:cNvSpPr txBox="1"/>
          <p:nvPr/>
        </p:nvSpPr>
        <p:spPr>
          <a:xfrm>
            <a:off x="595157" y="3284870"/>
            <a:ext cx="7809279" cy="4164389"/>
          </a:xfrm>
          <a:prstGeom prst="rect">
            <a:avLst/>
          </a:prstGeom>
        </p:spPr>
        <p:txBody>
          <a:bodyPr lIns="0" tIns="0" rIns="0" bIns="0" rtlCol="0" anchor="t">
            <a:spAutoFit/>
          </a:bodyPr>
          <a:lstStyle/>
          <a:p>
            <a:pPr algn="l">
              <a:lnSpc>
                <a:spcPts val="1568"/>
              </a:lnSpc>
            </a:pPr>
            <a:endParaRPr/>
          </a:p>
          <a:p>
            <a:pPr marL="696222" lvl="1" indent="-348111" algn="l">
              <a:lnSpc>
                <a:spcPts val="4514"/>
              </a:lnSpc>
              <a:buFont typeface="Arial"/>
              <a:buChar char="•"/>
            </a:pPr>
            <a:r>
              <a:rPr lang="en-US" sz="3224" spc="74">
                <a:solidFill>
                  <a:srgbClr val="343434"/>
                </a:solidFill>
                <a:latin typeface="Asap"/>
                <a:ea typeface="Asap"/>
                <a:cs typeface="Asap"/>
                <a:sym typeface="Asap"/>
              </a:rPr>
              <a:t>Node 0: Sender – TCP gửi không giới hạn, UDP gửi 20 Mbps CBR.</a:t>
            </a:r>
          </a:p>
          <a:p>
            <a:pPr marL="696222" lvl="1" indent="-348111" algn="l">
              <a:lnSpc>
                <a:spcPts val="4514"/>
              </a:lnSpc>
              <a:buFont typeface="Arial"/>
              <a:buChar char="•"/>
            </a:pPr>
            <a:r>
              <a:rPr lang="en-US" sz="3224" spc="74">
                <a:solidFill>
                  <a:srgbClr val="343434"/>
                </a:solidFill>
                <a:latin typeface="Asap"/>
                <a:ea typeface="Asap"/>
                <a:cs typeface="Asap"/>
                <a:sym typeface="Asap"/>
              </a:rPr>
              <a:t>Node 4: Receiver – TCP nhận dữ liệu và gửi ACK, UDP chỉ nhận dữ liệu.</a:t>
            </a:r>
          </a:p>
          <a:p>
            <a:pPr marL="696222" lvl="1" indent="-348111" algn="l">
              <a:lnSpc>
                <a:spcPts val="4514"/>
              </a:lnSpc>
              <a:buFont typeface="Arial"/>
              <a:buChar char="•"/>
            </a:pPr>
            <a:r>
              <a:rPr lang="en-US" sz="3224" spc="74">
                <a:solidFill>
                  <a:srgbClr val="343434"/>
                </a:solidFill>
                <a:latin typeface="Asap"/>
                <a:ea typeface="Asap"/>
                <a:cs typeface="Asap"/>
                <a:sym typeface="Asap"/>
              </a:rPr>
              <a:t>Node 1, 2, 3: Node trung gian – tạo nhiễu, tranh chấp kênh, mô phỏng Ethernet, không gửi/nhận.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8669554" y="3078946"/>
            <a:ext cx="8589746" cy="4604812"/>
          </a:xfrm>
          <a:custGeom>
            <a:avLst/>
            <a:gdLst/>
            <a:ahLst/>
            <a:cxnLst/>
            <a:rect l="l" t="t" r="r" b="b"/>
            <a:pathLst>
              <a:path w="8589746" h="4604812">
                <a:moveTo>
                  <a:pt x="0" y="0"/>
                </a:moveTo>
                <a:lnTo>
                  <a:pt x="8589746" y="0"/>
                </a:lnTo>
                <a:lnTo>
                  <a:pt x="8589746" y="4604813"/>
                </a:lnTo>
                <a:lnTo>
                  <a:pt x="0" y="4604813"/>
                </a:lnTo>
                <a:lnTo>
                  <a:pt x="0" y="0"/>
                </a:lnTo>
                <a:close/>
              </a:path>
            </a:pathLst>
          </a:custGeom>
          <a:blipFill>
            <a:blip r:embed="rId4"/>
            <a:stretch>
              <a:fillRect/>
            </a:stretch>
          </a:blipFill>
        </p:spPr>
      </p:sp>
      <p:sp>
        <p:nvSpPr>
          <p:cNvPr id="4" name="TextBox 4"/>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KỊCH BẢN MÔ PHỎNG</a:t>
            </a:r>
          </a:p>
        </p:txBody>
      </p:sp>
      <p:sp>
        <p:nvSpPr>
          <p:cNvPr id="5" name="TextBox 5"/>
          <p:cNvSpPr txBox="1"/>
          <p:nvPr/>
        </p:nvSpPr>
        <p:spPr>
          <a:xfrm>
            <a:off x="595157" y="2141870"/>
            <a:ext cx="7809279" cy="6450389"/>
          </a:xfrm>
          <a:prstGeom prst="rect">
            <a:avLst/>
          </a:prstGeom>
        </p:spPr>
        <p:txBody>
          <a:bodyPr lIns="0" tIns="0" rIns="0" bIns="0" rtlCol="0" anchor="t">
            <a:spAutoFit/>
          </a:bodyPr>
          <a:lstStyle/>
          <a:p>
            <a:pPr algn="l">
              <a:lnSpc>
                <a:spcPts val="1568"/>
              </a:lnSpc>
            </a:pPr>
            <a:endParaRPr/>
          </a:p>
          <a:p>
            <a:pPr marL="696222" lvl="1" indent="-348111" algn="l">
              <a:lnSpc>
                <a:spcPts val="4514"/>
              </a:lnSpc>
              <a:buFont typeface="Arial"/>
              <a:buChar char="•"/>
            </a:pPr>
            <a:r>
              <a:rPr lang="en-US" sz="3224" spc="74">
                <a:solidFill>
                  <a:srgbClr val="343434"/>
                </a:solidFill>
                <a:latin typeface="Asap"/>
                <a:ea typeface="Asap"/>
                <a:cs typeface="Asap"/>
                <a:sym typeface="Asap"/>
              </a:rPr>
              <a:t>Mục tiêu: Đánh giá hiệu suất Ethernet CSMA/CD và so sánh TCP/UDP.</a:t>
            </a:r>
          </a:p>
          <a:p>
            <a:pPr marL="696222" lvl="1" indent="-348111" algn="l">
              <a:lnSpc>
                <a:spcPts val="4514"/>
              </a:lnSpc>
              <a:buFont typeface="Arial"/>
              <a:buChar char="•"/>
            </a:pPr>
            <a:r>
              <a:rPr lang="en-US" sz="3224" spc="74">
                <a:solidFill>
                  <a:srgbClr val="343434"/>
                </a:solidFill>
                <a:latin typeface="Asap"/>
                <a:ea typeface="Asap"/>
                <a:cs typeface="Asap"/>
                <a:sym typeface="Asap"/>
              </a:rPr>
              <a:t>Cấu hình: 5 node, Ethernet 100 Mbps, OnOff app, mô phỏng 10 giây.</a:t>
            </a:r>
          </a:p>
          <a:p>
            <a:pPr marL="696222" lvl="1" indent="-348111" algn="l">
              <a:lnSpc>
                <a:spcPts val="4514"/>
              </a:lnSpc>
              <a:buFont typeface="Arial"/>
              <a:buChar char="•"/>
            </a:pPr>
            <a:r>
              <a:rPr lang="en-US" sz="3224" spc="74">
                <a:solidFill>
                  <a:srgbClr val="343434"/>
                </a:solidFill>
                <a:latin typeface="Asap"/>
                <a:ea typeface="Asap"/>
                <a:cs typeface="Asap"/>
                <a:sym typeface="Asap"/>
              </a:rPr>
              <a:t>4 kịch bản: Lí tưởng, delay cao, tắc nghẽn, cực đoan.</a:t>
            </a:r>
          </a:p>
          <a:p>
            <a:pPr marL="696222" lvl="1" indent="-348111" algn="l">
              <a:lnSpc>
                <a:spcPts val="4514"/>
              </a:lnSpc>
              <a:buFont typeface="Arial"/>
              <a:buChar char="•"/>
            </a:pPr>
            <a:r>
              <a:rPr lang="en-US" sz="3224" spc="74">
                <a:solidFill>
                  <a:srgbClr val="343434"/>
                </a:solidFill>
                <a:latin typeface="Asap"/>
                <a:ea typeface="Asap"/>
                <a:cs typeface="Asap"/>
                <a:sym typeface="Asap"/>
              </a:rPr>
              <a:t>Dữ liệu: FlowMonitor xuất throughput, delay, packet loss, PDR.</a:t>
            </a:r>
          </a:p>
          <a:p>
            <a:pPr marL="696222" lvl="1" indent="-348111" algn="l">
              <a:lnSpc>
                <a:spcPts val="4514"/>
              </a:lnSpc>
              <a:buFont typeface="Arial"/>
              <a:buChar char="•"/>
            </a:pPr>
            <a:r>
              <a:rPr lang="en-US" sz="3224" spc="74">
                <a:solidFill>
                  <a:srgbClr val="343434"/>
                </a:solidFill>
                <a:latin typeface="Asap"/>
                <a:ea typeface="Asap"/>
                <a:cs typeface="Asap"/>
                <a:sym typeface="Asap"/>
              </a:rPr>
              <a:t>Phân tích: Xử lý và vẽ biểu đồ TCP/UDP bằng Python.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028700" y="2385853"/>
            <a:ext cx="8115300" cy="813614"/>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7" name="Freeform 7"/>
          <p:cNvSpPr/>
          <p:nvPr/>
        </p:nvSpPr>
        <p:spPr>
          <a:xfrm>
            <a:off x="1028700" y="3576505"/>
            <a:ext cx="8115300" cy="813614"/>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10" name="Freeform 10"/>
          <p:cNvSpPr/>
          <p:nvPr/>
        </p:nvSpPr>
        <p:spPr>
          <a:xfrm>
            <a:off x="1028700" y="4771118"/>
            <a:ext cx="8115300" cy="813614"/>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FD5A4"/>
          </a:solidFill>
          <a:ln w="28575" cap="sq">
            <a:solidFill>
              <a:srgbClr val="000000"/>
            </a:solidFill>
            <a:prstDash val="solid"/>
            <a:miter/>
          </a:ln>
        </p:spPr>
      </p:sp>
      <p:grpSp>
        <p:nvGrpSpPr>
          <p:cNvPr id="12" name="Group 12"/>
          <p:cNvGrpSpPr/>
          <p:nvPr/>
        </p:nvGrpSpPr>
        <p:grpSpPr>
          <a:xfrm>
            <a:off x="1028700" y="5965732"/>
            <a:ext cx="8115300" cy="813614"/>
            <a:chOff x="0" y="0"/>
            <a:chExt cx="2074719" cy="208005"/>
          </a:xfrm>
        </p:grpSpPr>
        <p:sp>
          <p:nvSpPr>
            <p:cNvPr id="13" name="Freeform 13"/>
            <p:cNvSpPr/>
            <p:nvPr/>
          </p:nvSpPr>
          <p:spPr>
            <a:xfrm>
              <a:off x="0" y="0"/>
              <a:ext cx="2074719" cy="208005"/>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14" name="TextBox 14"/>
            <p:cNvSpPr txBox="1"/>
            <p:nvPr/>
          </p:nvSpPr>
          <p:spPr>
            <a:xfrm>
              <a:off x="0" y="-76200"/>
              <a:ext cx="2074719" cy="284205"/>
            </a:xfrm>
            <a:prstGeom prst="rect">
              <a:avLst/>
            </a:prstGeom>
          </p:spPr>
          <p:txBody>
            <a:bodyPr lIns="50800" tIns="50800" rIns="50800" bIns="50800" rtlCol="0" anchor="ctr"/>
            <a:lstStyle/>
            <a:p>
              <a:pPr algn="ctr">
                <a:lnSpc>
                  <a:spcPts val="4339"/>
                </a:lnSpc>
              </a:pPr>
              <a:endParaRPr lang="en-US" sz="3099">
                <a:solidFill>
                  <a:srgbClr val="000000"/>
                </a:solidFill>
                <a:latin typeface="Asap"/>
                <a:ea typeface="Asap"/>
                <a:cs typeface="Asap"/>
                <a:sym typeface="Asap"/>
              </a:endParaRPr>
            </a:p>
          </p:txBody>
        </p:sp>
      </p:grpSp>
      <p:grpSp>
        <p:nvGrpSpPr>
          <p:cNvPr id="15" name="Group 15"/>
          <p:cNvGrpSpPr/>
          <p:nvPr/>
        </p:nvGrpSpPr>
        <p:grpSpPr>
          <a:xfrm>
            <a:off x="1028700" y="7160345"/>
            <a:ext cx="8115300" cy="813614"/>
            <a:chOff x="0" y="0"/>
            <a:chExt cx="2074719" cy="208005"/>
          </a:xfrm>
        </p:grpSpPr>
        <p:sp>
          <p:nvSpPr>
            <p:cNvPr id="16" name="Freeform 16"/>
            <p:cNvSpPr/>
            <p:nvPr/>
          </p:nvSpPr>
          <p:spPr>
            <a:xfrm>
              <a:off x="0" y="0"/>
              <a:ext cx="2074719" cy="208005"/>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17" name="TextBox 17"/>
            <p:cNvSpPr txBox="1"/>
            <p:nvPr/>
          </p:nvSpPr>
          <p:spPr>
            <a:xfrm>
              <a:off x="0" y="-76200"/>
              <a:ext cx="2074719" cy="284205"/>
            </a:xfrm>
            <a:prstGeom prst="rect">
              <a:avLst/>
            </a:prstGeom>
          </p:spPr>
          <p:txBody>
            <a:bodyPr lIns="50800" tIns="50800" rIns="50800" bIns="50800" rtlCol="0" anchor="ctr"/>
            <a:lstStyle/>
            <a:p>
              <a:pPr algn="ctr">
                <a:lnSpc>
                  <a:spcPts val="4339"/>
                </a:lnSpc>
              </a:pPr>
              <a:endParaRPr lang="en-US" sz="3099">
                <a:solidFill>
                  <a:srgbClr val="000000"/>
                </a:solidFill>
                <a:latin typeface="Asap"/>
                <a:ea typeface="Asap"/>
                <a:cs typeface="Asap"/>
                <a:sym typeface="Asap"/>
              </a:endParaRPr>
            </a:p>
          </p:txBody>
        </p:sp>
      </p:grpSp>
      <p:sp>
        <p:nvSpPr>
          <p:cNvPr id="18" name="TextBox 18"/>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NỘI DUNG</a:t>
            </a:r>
          </a:p>
        </p:txBody>
      </p:sp>
      <p:sp>
        <p:nvSpPr>
          <p:cNvPr id="19" name="Freeform 19"/>
          <p:cNvSpPr/>
          <p:nvPr/>
        </p:nvSpPr>
        <p:spPr>
          <a:xfrm>
            <a:off x="10251035" y="1114858"/>
            <a:ext cx="7289657" cy="4169218"/>
          </a:xfrm>
          <a:custGeom>
            <a:avLst/>
            <a:gdLst/>
            <a:ahLst/>
            <a:cxnLst/>
            <a:rect l="l" t="t" r="r" b="b"/>
            <a:pathLst>
              <a:path w="7289657" h="4169218">
                <a:moveTo>
                  <a:pt x="0" y="0"/>
                </a:moveTo>
                <a:lnTo>
                  <a:pt x="7289658" y="0"/>
                </a:lnTo>
                <a:lnTo>
                  <a:pt x="7289658" y="4169218"/>
                </a:lnTo>
                <a:lnTo>
                  <a:pt x="0" y="4169218"/>
                </a:lnTo>
                <a:lnTo>
                  <a:pt x="0" y="0"/>
                </a:lnTo>
                <a:close/>
              </a:path>
            </a:pathLst>
          </a:custGeom>
          <a:blipFill>
            <a:blip r:embed="rId4"/>
            <a:stretch>
              <a:fillRect/>
            </a:stretch>
          </a:blipFill>
        </p:spPr>
      </p:sp>
      <p:sp>
        <p:nvSpPr>
          <p:cNvPr id="20" name="Freeform 20"/>
          <p:cNvSpPr/>
          <p:nvPr/>
        </p:nvSpPr>
        <p:spPr>
          <a:xfrm>
            <a:off x="10532428" y="4919060"/>
            <a:ext cx="6726872" cy="3324902"/>
          </a:xfrm>
          <a:custGeom>
            <a:avLst/>
            <a:gdLst/>
            <a:ahLst/>
            <a:cxnLst/>
            <a:rect l="l" t="t" r="r" b="b"/>
            <a:pathLst>
              <a:path w="6726872" h="3324902">
                <a:moveTo>
                  <a:pt x="0" y="0"/>
                </a:moveTo>
                <a:lnTo>
                  <a:pt x="6726872" y="0"/>
                </a:lnTo>
                <a:lnTo>
                  <a:pt x="6726872" y="3324902"/>
                </a:lnTo>
                <a:lnTo>
                  <a:pt x="0" y="3324902"/>
                </a:lnTo>
                <a:lnTo>
                  <a:pt x="0" y="0"/>
                </a:lnTo>
                <a:close/>
              </a:path>
            </a:pathLst>
          </a:custGeom>
          <a:blipFill>
            <a:blip r:embed="rId5"/>
            <a:stretch>
              <a:fillRect/>
            </a:stretch>
          </a:blipFill>
        </p:spPr>
      </p:sp>
      <p:sp>
        <p:nvSpPr>
          <p:cNvPr id="21" name="TextBox 5"/>
          <p:cNvSpPr txBox="1"/>
          <p:nvPr/>
        </p:nvSpPr>
        <p:spPr>
          <a:xfrm>
            <a:off x="1028700" y="2236824"/>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Giới thiệu</a:t>
            </a:r>
          </a:p>
        </p:txBody>
      </p:sp>
      <p:sp>
        <p:nvSpPr>
          <p:cNvPr id="22" name="TextBox 8"/>
          <p:cNvSpPr txBox="1"/>
          <p:nvPr/>
        </p:nvSpPr>
        <p:spPr>
          <a:xfrm>
            <a:off x="1028700" y="3427476"/>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Phương pháp</a:t>
            </a:r>
          </a:p>
        </p:txBody>
      </p:sp>
      <p:sp>
        <p:nvSpPr>
          <p:cNvPr id="23" name="TextBox 11"/>
          <p:cNvSpPr txBox="1"/>
          <p:nvPr/>
        </p:nvSpPr>
        <p:spPr>
          <a:xfrm>
            <a:off x="1028700" y="4622089"/>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Công cụ sử dụng</a:t>
            </a:r>
          </a:p>
        </p:txBody>
      </p:sp>
      <p:sp>
        <p:nvSpPr>
          <p:cNvPr id="24" name="TextBox 14"/>
          <p:cNvSpPr txBox="1"/>
          <p:nvPr/>
        </p:nvSpPr>
        <p:spPr>
          <a:xfrm>
            <a:off x="1028700" y="5816703"/>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Phân tích kết quả</a:t>
            </a:r>
          </a:p>
        </p:txBody>
      </p:sp>
      <p:sp>
        <p:nvSpPr>
          <p:cNvPr id="25" name="TextBox 17"/>
          <p:cNvSpPr txBox="1"/>
          <p:nvPr/>
        </p:nvSpPr>
        <p:spPr>
          <a:xfrm>
            <a:off x="1028700" y="7011316"/>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Kết luận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2015798" y="1094398"/>
            <a:ext cx="5251877" cy="3003738"/>
          </a:xfrm>
          <a:custGeom>
            <a:avLst/>
            <a:gdLst/>
            <a:ahLst/>
            <a:cxnLst/>
            <a:rect l="l" t="t" r="r" b="b"/>
            <a:pathLst>
              <a:path w="5251877" h="3003738">
                <a:moveTo>
                  <a:pt x="0" y="0"/>
                </a:moveTo>
                <a:lnTo>
                  <a:pt x="5251877" y="0"/>
                </a:lnTo>
                <a:lnTo>
                  <a:pt x="5251877" y="3003738"/>
                </a:lnTo>
                <a:lnTo>
                  <a:pt x="0" y="3003738"/>
                </a:lnTo>
                <a:lnTo>
                  <a:pt x="0" y="0"/>
                </a:lnTo>
                <a:close/>
              </a:path>
            </a:pathLst>
          </a:custGeom>
          <a:blipFill>
            <a:blip r:embed="rId4"/>
            <a:stretch>
              <a:fillRect/>
            </a:stretch>
          </a:blipFill>
        </p:spPr>
      </p:sp>
      <p:sp>
        <p:nvSpPr>
          <p:cNvPr id="4" name="Freeform 4"/>
          <p:cNvSpPr/>
          <p:nvPr/>
        </p:nvSpPr>
        <p:spPr>
          <a:xfrm>
            <a:off x="10383516" y="-579515"/>
            <a:ext cx="6351565" cy="6351565"/>
          </a:xfrm>
          <a:custGeom>
            <a:avLst/>
            <a:gdLst/>
            <a:ahLst/>
            <a:cxnLst/>
            <a:rect l="l" t="t" r="r" b="b"/>
            <a:pathLst>
              <a:path w="6351565" h="6351565">
                <a:moveTo>
                  <a:pt x="0" y="0"/>
                </a:moveTo>
                <a:lnTo>
                  <a:pt x="6351565" y="0"/>
                </a:lnTo>
                <a:lnTo>
                  <a:pt x="6351565" y="6351565"/>
                </a:lnTo>
                <a:lnTo>
                  <a:pt x="0" y="6351565"/>
                </a:lnTo>
                <a:lnTo>
                  <a:pt x="0" y="0"/>
                </a:lnTo>
                <a:close/>
              </a:path>
            </a:pathLst>
          </a:custGeom>
          <a:blipFill>
            <a:blip r:embed="rId5"/>
            <a:stretch>
              <a:fillRect/>
            </a:stretch>
          </a:blipFill>
        </p:spPr>
      </p:sp>
      <p:sp>
        <p:nvSpPr>
          <p:cNvPr id="5" name="TextBox 5"/>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CÔNG CỤ SỬ DỤNG</a:t>
            </a:r>
          </a:p>
        </p:txBody>
      </p:sp>
      <p:sp>
        <p:nvSpPr>
          <p:cNvPr id="6" name="AutoShape 6"/>
          <p:cNvSpPr/>
          <p:nvPr/>
        </p:nvSpPr>
        <p:spPr>
          <a:xfrm flipH="1">
            <a:off x="9144000" y="2071991"/>
            <a:ext cx="0" cy="7400118"/>
          </a:xfrm>
          <a:prstGeom prst="line">
            <a:avLst/>
          </a:prstGeom>
          <a:ln w="38100" cap="flat">
            <a:solidFill>
              <a:srgbClr val="000000"/>
            </a:solidFill>
            <a:prstDash val="sysDot"/>
            <a:headEnd type="none" w="sm" len="sm"/>
            <a:tailEnd type="none" w="sm" len="sm"/>
          </a:ln>
        </p:spPr>
      </p:sp>
      <p:sp>
        <p:nvSpPr>
          <p:cNvPr id="7" name="TextBox 7"/>
          <p:cNvSpPr txBox="1"/>
          <p:nvPr/>
        </p:nvSpPr>
        <p:spPr>
          <a:xfrm>
            <a:off x="737097" y="3842447"/>
            <a:ext cx="7809279" cy="4735889"/>
          </a:xfrm>
          <a:prstGeom prst="rect">
            <a:avLst/>
          </a:prstGeom>
        </p:spPr>
        <p:txBody>
          <a:bodyPr lIns="0" tIns="0" rIns="0" bIns="0" rtlCol="0" anchor="t">
            <a:spAutoFit/>
          </a:bodyPr>
          <a:lstStyle/>
          <a:p>
            <a:pPr algn="l">
              <a:lnSpc>
                <a:spcPts val="1568"/>
              </a:lnSpc>
            </a:pPr>
            <a:endParaRPr/>
          </a:p>
          <a:p>
            <a:pPr marL="696222" lvl="1" indent="-348111" algn="l">
              <a:lnSpc>
                <a:spcPts val="4514"/>
              </a:lnSpc>
              <a:buFont typeface="Arial"/>
              <a:buChar char="•"/>
            </a:pPr>
            <a:r>
              <a:rPr lang="en-US" sz="3224" spc="74">
                <a:solidFill>
                  <a:srgbClr val="343434"/>
                </a:solidFill>
                <a:latin typeface="Asap"/>
                <a:ea typeface="Asap"/>
                <a:cs typeface="Asap"/>
                <a:sym typeface="Asap"/>
              </a:rPr>
              <a:t>Cấu hình mạng &amp; thiết bị: CsmaHelper, CsmaNetDevice, CsmaChannel để mô phỏng Ethernet CSMA/CD.</a:t>
            </a:r>
          </a:p>
          <a:p>
            <a:pPr marL="696222" lvl="1" indent="-348111" algn="l">
              <a:lnSpc>
                <a:spcPts val="4514"/>
              </a:lnSpc>
              <a:buFont typeface="Arial"/>
              <a:buChar char="•"/>
            </a:pPr>
            <a:r>
              <a:rPr lang="en-US" sz="3224" spc="74">
                <a:solidFill>
                  <a:srgbClr val="343434"/>
                </a:solidFill>
                <a:latin typeface="Asap"/>
                <a:ea typeface="Asap"/>
                <a:cs typeface="Asap"/>
                <a:sym typeface="Asap"/>
              </a:rPr>
              <a:t>Tạo lưu lượng &amp; đo hiệu suất: OnOff/BulkSend tạo UDP/TCP; FlowMonitor thu thập throughput, PDR, packet loss.</a:t>
            </a:r>
          </a:p>
        </p:txBody>
      </p:sp>
      <p:sp>
        <p:nvSpPr>
          <p:cNvPr id="8" name="TextBox 8"/>
          <p:cNvSpPr txBox="1"/>
          <p:nvPr/>
        </p:nvSpPr>
        <p:spPr>
          <a:xfrm>
            <a:off x="9744075" y="4413947"/>
            <a:ext cx="7809279" cy="3592889"/>
          </a:xfrm>
          <a:prstGeom prst="rect">
            <a:avLst/>
          </a:prstGeom>
        </p:spPr>
        <p:txBody>
          <a:bodyPr lIns="0" tIns="0" rIns="0" bIns="0" rtlCol="0" anchor="t">
            <a:spAutoFit/>
          </a:bodyPr>
          <a:lstStyle/>
          <a:p>
            <a:pPr algn="l">
              <a:lnSpc>
                <a:spcPts val="1568"/>
              </a:lnSpc>
            </a:pPr>
            <a:endParaRPr/>
          </a:p>
          <a:p>
            <a:pPr marL="696222" lvl="1" indent="-348111" algn="l">
              <a:lnSpc>
                <a:spcPts val="4514"/>
              </a:lnSpc>
              <a:buFont typeface="Arial"/>
              <a:buChar char="•"/>
            </a:pPr>
            <a:r>
              <a:rPr lang="en-US" sz="3224" spc="74">
                <a:solidFill>
                  <a:srgbClr val="343434"/>
                </a:solidFill>
                <a:latin typeface="Asap"/>
                <a:ea typeface="Asap"/>
                <a:cs typeface="Asap"/>
                <a:sym typeface="Asap"/>
              </a:rPr>
              <a:t>Mô phỏng &amp; cấu hình: Viết kịch bản TCP/UDP, thiết lập node, thiết bị, kênh và ứng dụng.</a:t>
            </a:r>
          </a:p>
          <a:p>
            <a:pPr marL="696222" lvl="1" indent="-348111" algn="l">
              <a:lnSpc>
                <a:spcPts val="4514"/>
              </a:lnSpc>
              <a:buFont typeface="Arial"/>
              <a:buChar char="•"/>
            </a:pPr>
            <a:r>
              <a:rPr lang="en-US" sz="3224" spc="74">
                <a:solidFill>
                  <a:srgbClr val="343434"/>
                </a:solidFill>
                <a:latin typeface="Asap"/>
                <a:ea typeface="Asap"/>
                <a:cs typeface="Asap"/>
                <a:sym typeface="Asap"/>
              </a:rPr>
              <a:t>Xử lý &amp; phân tích: Thu thập dữ liệu từ NS-3, vẽ đồ thị và đánh giá hiệu suất bằng Python.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028700" y="2385853"/>
            <a:ext cx="8115300" cy="813614"/>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7" name="Freeform 7"/>
          <p:cNvSpPr/>
          <p:nvPr/>
        </p:nvSpPr>
        <p:spPr>
          <a:xfrm>
            <a:off x="1028700" y="3576505"/>
            <a:ext cx="8115300" cy="813614"/>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10" name="Freeform 10"/>
          <p:cNvSpPr/>
          <p:nvPr/>
        </p:nvSpPr>
        <p:spPr>
          <a:xfrm>
            <a:off x="1028700" y="4771118"/>
            <a:ext cx="8115300" cy="813614"/>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grpSp>
        <p:nvGrpSpPr>
          <p:cNvPr id="12" name="Group 12"/>
          <p:cNvGrpSpPr/>
          <p:nvPr/>
        </p:nvGrpSpPr>
        <p:grpSpPr>
          <a:xfrm>
            <a:off x="1028700" y="5965732"/>
            <a:ext cx="8115300" cy="813614"/>
            <a:chOff x="0" y="0"/>
            <a:chExt cx="2074719" cy="208005"/>
          </a:xfrm>
        </p:grpSpPr>
        <p:sp>
          <p:nvSpPr>
            <p:cNvPr id="13" name="Freeform 13"/>
            <p:cNvSpPr/>
            <p:nvPr/>
          </p:nvSpPr>
          <p:spPr>
            <a:xfrm>
              <a:off x="0" y="0"/>
              <a:ext cx="2074719" cy="208005"/>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FD5A4"/>
            </a:solidFill>
            <a:ln w="28575" cap="sq">
              <a:solidFill>
                <a:srgbClr val="000000"/>
              </a:solidFill>
              <a:prstDash val="solid"/>
              <a:miter/>
            </a:ln>
          </p:spPr>
        </p:sp>
        <p:sp>
          <p:nvSpPr>
            <p:cNvPr id="14" name="TextBox 14"/>
            <p:cNvSpPr txBox="1"/>
            <p:nvPr/>
          </p:nvSpPr>
          <p:spPr>
            <a:xfrm>
              <a:off x="0" y="-76200"/>
              <a:ext cx="2074719" cy="284205"/>
            </a:xfrm>
            <a:prstGeom prst="rect">
              <a:avLst/>
            </a:prstGeom>
          </p:spPr>
          <p:txBody>
            <a:bodyPr lIns="50800" tIns="50800" rIns="50800" bIns="50800" rtlCol="0" anchor="ctr"/>
            <a:lstStyle/>
            <a:p>
              <a:pPr algn="ctr">
                <a:lnSpc>
                  <a:spcPts val="4339"/>
                </a:lnSpc>
              </a:pPr>
              <a:endParaRPr lang="en-US" sz="3099">
                <a:solidFill>
                  <a:srgbClr val="000000"/>
                </a:solidFill>
                <a:latin typeface="Asap"/>
                <a:ea typeface="Asap"/>
                <a:cs typeface="Asap"/>
                <a:sym typeface="Asap"/>
              </a:endParaRPr>
            </a:p>
          </p:txBody>
        </p:sp>
      </p:grpSp>
      <p:grpSp>
        <p:nvGrpSpPr>
          <p:cNvPr id="15" name="Group 15"/>
          <p:cNvGrpSpPr/>
          <p:nvPr/>
        </p:nvGrpSpPr>
        <p:grpSpPr>
          <a:xfrm>
            <a:off x="1028700" y="7160345"/>
            <a:ext cx="8115300" cy="813614"/>
            <a:chOff x="0" y="0"/>
            <a:chExt cx="2074719" cy="208005"/>
          </a:xfrm>
        </p:grpSpPr>
        <p:sp>
          <p:nvSpPr>
            <p:cNvPr id="16" name="Freeform 16"/>
            <p:cNvSpPr/>
            <p:nvPr/>
          </p:nvSpPr>
          <p:spPr>
            <a:xfrm>
              <a:off x="0" y="0"/>
              <a:ext cx="2074719" cy="208005"/>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17" name="TextBox 17"/>
            <p:cNvSpPr txBox="1"/>
            <p:nvPr/>
          </p:nvSpPr>
          <p:spPr>
            <a:xfrm>
              <a:off x="0" y="-76200"/>
              <a:ext cx="2074719" cy="284205"/>
            </a:xfrm>
            <a:prstGeom prst="rect">
              <a:avLst/>
            </a:prstGeom>
          </p:spPr>
          <p:txBody>
            <a:bodyPr lIns="50800" tIns="50800" rIns="50800" bIns="50800" rtlCol="0" anchor="ctr"/>
            <a:lstStyle/>
            <a:p>
              <a:pPr algn="ctr">
                <a:lnSpc>
                  <a:spcPts val="4339"/>
                </a:lnSpc>
              </a:pPr>
              <a:endParaRPr lang="en-US" sz="3099">
                <a:solidFill>
                  <a:srgbClr val="000000"/>
                </a:solidFill>
                <a:latin typeface="Asap"/>
                <a:ea typeface="Asap"/>
                <a:cs typeface="Asap"/>
                <a:sym typeface="Asap"/>
              </a:endParaRPr>
            </a:p>
          </p:txBody>
        </p:sp>
      </p:grpSp>
      <p:sp>
        <p:nvSpPr>
          <p:cNvPr id="18" name="TextBox 18"/>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NỘI DUNG</a:t>
            </a:r>
          </a:p>
        </p:txBody>
      </p:sp>
      <p:sp>
        <p:nvSpPr>
          <p:cNvPr id="19" name="Freeform 19"/>
          <p:cNvSpPr/>
          <p:nvPr/>
        </p:nvSpPr>
        <p:spPr>
          <a:xfrm>
            <a:off x="10251035" y="1114858"/>
            <a:ext cx="7289657" cy="4169218"/>
          </a:xfrm>
          <a:custGeom>
            <a:avLst/>
            <a:gdLst/>
            <a:ahLst/>
            <a:cxnLst/>
            <a:rect l="l" t="t" r="r" b="b"/>
            <a:pathLst>
              <a:path w="7289657" h="4169218">
                <a:moveTo>
                  <a:pt x="0" y="0"/>
                </a:moveTo>
                <a:lnTo>
                  <a:pt x="7289658" y="0"/>
                </a:lnTo>
                <a:lnTo>
                  <a:pt x="7289658" y="4169218"/>
                </a:lnTo>
                <a:lnTo>
                  <a:pt x="0" y="4169218"/>
                </a:lnTo>
                <a:lnTo>
                  <a:pt x="0" y="0"/>
                </a:lnTo>
                <a:close/>
              </a:path>
            </a:pathLst>
          </a:custGeom>
          <a:blipFill>
            <a:blip r:embed="rId4"/>
            <a:stretch>
              <a:fillRect/>
            </a:stretch>
          </a:blipFill>
        </p:spPr>
      </p:sp>
      <p:sp>
        <p:nvSpPr>
          <p:cNvPr id="20" name="Freeform 20"/>
          <p:cNvSpPr/>
          <p:nvPr/>
        </p:nvSpPr>
        <p:spPr>
          <a:xfrm>
            <a:off x="10532428" y="4919060"/>
            <a:ext cx="6726872" cy="3324902"/>
          </a:xfrm>
          <a:custGeom>
            <a:avLst/>
            <a:gdLst/>
            <a:ahLst/>
            <a:cxnLst/>
            <a:rect l="l" t="t" r="r" b="b"/>
            <a:pathLst>
              <a:path w="6726872" h="3324902">
                <a:moveTo>
                  <a:pt x="0" y="0"/>
                </a:moveTo>
                <a:lnTo>
                  <a:pt x="6726872" y="0"/>
                </a:lnTo>
                <a:lnTo>
                  <a:pt x="6726872" y="3324902"/>
                </a:lnTo>
                <a:lnTo>
                  <a:pt x="0" y="3324902"/>
                </a:lnTo>
                <a:lnTo>
                  <a:pt x="0" y="0"/>
                </a:lnTo>
                <a:close/>
              </a:path>
            </a:pathLst>
          </a:custGeom>
          <a:blipFill>
            <a:blip r:embed="rId5"/>
            <a:stretch>
              <a:fillRect/>
            </a:stretch>
          </a:blipFill>
        </p:spPr>
      </p:sp>
      <p:sp>
        <p:nvSpPr>
          <p:cNvPr id="21" name="TextBox 5"/>
          <p:cNvSpPr txBox="1"/>
          <p:nvPr/>
        </p:nvSpPr>
        <p:spPr>
          <a:xfrm>
            <a:off x="1028700" y="2236824"/>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Giới thiệu</a:t>
            </a:r>
          </a:p>
        </p:txBody>
      </p:sp>
      <p:sp>
        <p:nvSpPr>
          <p:cNvPr id="22" name="TextBox 8"/>
          <p:cNvSpPr txBox="1"/>
          <p:nvPr/>
        </p:nvSpPr>
        <p:spPr>
          <a:xfrm>
            <a:off x="1028700" y="3427476"/>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Phương pháp</a:t>
            </a:r>
          </a:p>
        </p:txBody>
      </p:sp>
      <p:sp>
        <p:nvSpPr>
          <p:cNvPr id="23" name="TextBox 11"/>
          <p:cNvSpPr txBox="1"/>
          <p:nvPr/>
        </p:nvSpPr>
        <p:spPr>
          <a:xfrm>
            <a:off x="1028700" y="4622089"/>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Công cụ sử dụng</a:t>
            </a:r>
          </a:p>
        </p:txBody>
      </p:sp>
      <p:sp>
        <p:nvSpPr>
          <p:cNvPr id="24" name="TextBox 14"/>
          <p:cNvSpPr txBox="1"/>
          <p:nvPr/>
        </p:nvSpPr>
        <p:spPr>
          <a:xfrm>
            <a:off x="1028700" y="5816703"/>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Phân tích kết quả</a:t>
            </a:r>
          </a:p>
        </p:txBody>
      </p:sp>
      <p:sp>
        <p:nvSpPr>
          <p:cNvPr id="25" name="TextBox 17"/>
          <p:cNvSpPr txBox="1"/>
          <p:nvPr/>
        </p:nvSpPr>
        <p:spPr>
          <a:xfrm>
            <a:off x="1028700" y="7011316"/>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Kết luận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595157" y="1922861"/>
            <a:ext cx="8807784" cy="3458491"/>
          </a:xfrm>
          <a:custGeom>
            <a:avLst/>
            <a:gdLst/>
            <a:ahLst/>
            <a:cxnLst/>
            <a:rect l="l" t="t" r="r" b="b"/>
            <a:pathLst>
              <a:path w="8807784" h="3458491">
                <a:moveTo>
                  <a:pt x="0" y="0"/>
                </a:moveTo>
                <a:lnTo>
                  <a:pt x="8807784" y="0"/>
                </a:lnTo>
                <a:lnTo>
                  <a:pt x="8807784" y="3458491"/>
                </a:lnTo>
                <a:lnTo>
                  <a:pt x="0" y="3458491"/>
                </a:lnTo>
                <a:lnTo>
                  <a:pt x="0" y="0"/>
                </a:lnTo>
                <a:close/>
              </a:path>
            </a:pathLst>
          </a:custGeom>
          <a:blipFill>
            <a:blip r:embed="rId4"/>
            <a:stretch>
              <a:fillRect/>
            </a:stretch>
          </a:blipFill>
        </p:spPr>
      </p:sp>
      <p:sp>
        <p:nvSpPr>
          <p:cNvPr id="4" name="Freeform 4"/>
          <p:cNvSpPr/>
          <p:nvPr/>
        </p:nvSpPr>
        <p:spPr>
          <a:xfrm>
            <a:off x="595157" y="5816452"/>
            <a:ext cx="8807784" cy="3441848"/>
          </a:xfrm>
          <a:custGeom>
            <a:avLst/>
            <a:gdLst/>
            <a:ahLst/>
            <a:cxnLst/>
            <a:rect l="l" t="t" r="r" b="b"/>
            <a:pathLst>
              <a:path w="8807784" h="3441848">
                <a:moveTo>
                  <a:pt x="0" y="0"/>
                </a:moveTo>
                <a:lnTo>
                  <a:pt x="8807784" y="0"/>
                </a:lnTo>
                <a:lnTo>
                  <a:pt x="8807784" y="3441848"/>
                </a:lnTo>
                <a:lnTo>
                  <a:pt x="0" y="3441848"/>
                </a:lnTo>
                <a:lnTo>
                  <a:pt x="0" y="0"/>
                </a:lnTo>
                <a:close/>
              </a:path>
            </a:pathLst>
          </a:custGeom>
          <a:blipFill>
            <a:blip r:embed="rId5"/>
            <a:stretch>
              <a:fillRect/>
            </a:stretch>
          </a:blipFill>
        </p:spPr>
      </p:sp>
      <p:sp>
        <p:nvSpPr>
          <p:cNvPr id="5" name="TextBox 5"/>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KẾT QUẢ TRÊN TERMINAL</a:t>
            </a:r>
          </a:p>
        </p:txBody>
      </p:sp>
      <p:sp>
        <p:nvSpPr>
          <p:cNvPr id="6" name="TextBox 6"/>
          <p:cNvSpPr txBox="1"/>
          <p:nvPr/>
        </p:nvSpPr>
        <p:spPr>
          <a:xfrm>
            <a:off x="9708962" y="2116806"/>
            <a:ext cx="7550338" cy="6852291"/>
          </a:xfrm>
          <a:prstGeom prst="rect">
            <a:avLst/>
          </a:prstGeom>
        </p:spPr>
        <p:txBody>
          <a:bodyPr lIns="0" tIns="0" rIns="0" bIns="0" rtlCol="0" anchor="t">
            <a:spAutoFit/>
          </a:bodyPr>
          <a:lstStyle/>
          <a:p>
            <a:pPr marL="696222" lvl="1" indent="-348111" algn="l">
              <a:lnSpc>
                <a:spcPts val="4514"/>
              </a:lnSpc>
              <a:buFont typeface="Arial"/>
              <a:buChar char="•"/>
            </a:pPr>
            <a:r>
              <a:rPr lang="en-US" sz="3224" spc="74">
                <a:solidFill>
                  <a:srgbClr val="343434"/>
                </a:solidFill>
                <a:latin typeface="Asap"/>
                <a:ea typeface="Asap"/>
                <a:cs typeface="Asap"/>
                <a:sym typeface="Asap"/>
              </a:rPr>
              <a:t>Trường hợp 1 – Lý tưởng: TCP &amp; UDP ~50 Mbps, PDR gần 100%, mạng ổn định.</a:t>
            </a:r>
          </a:p>
          <a:p>
            <a:pPr marL="696222" lvl="1" indent="-348111" algn="l">
              <a:lnSpc>
                <a:spcPts val="4514"/>
              </a:lnSpc>
              <a:buFont typeface="Arial"/>
              <a:buChar char="•"/>
            </a:pPr>
            <a:r>
              <a:rPr lang="en-US" sz="3224" spc="74">
                <a:solidFill>
                  <a:srgbClr val="343434"/>
                </a:solidFill>
                <a:latin typeface="Asap"/>
                <a:ea typeface="Asap"/>
                <a:cs typeface="Asap"/>
                <a:sym typeface="Asap"/>
              </a:rPr>
              <a:t>Trường hợp 2 – Delay cao: TCP 3.82 Mbps, UDP 9.36 Mbps, PDR UDP chỉ 18.7%.</a:t>
            </a:r>
          </a:p>
          <a:p>
            <a:pPr marL="696222" lvl="1" indent="-348111" algn="l">
              <a:lnSpc>
                <a:spcPts val="4514"/>
              </a:lnSpc>
              <a:buFont typeface="Arial"/>
              <a:buChar char="•"/>
            </a:pPr>
            <a:r>
              <a:rPr lang="en-US" sz="3224" spc="74">
                <a:solidFill>
                  <a:srgbClr val="343434"/>
                </a:solidFill>
                <a:latin typeface="Asap"/>
                <a:ea typeface="Asap"/>
                <a:cs typeface="Asap"/>
                <a:sym typeface="Asap"/>
              </a:rPr>
              <a:t>Trường hợp 3 – Tắc nghẽn: TCP ổn định 63.3 Mbps, UDP cao 91.98 Mbps nhưng PDR 46%.</a:t>
            </a:r>
          </a:p>
          <a:p>
            <a:pPr marL="696222" lvl="1" indent="-348111" algn="l">
              <a:lnSpc>
                <a:spcPts val="4514"/>
              </a:lnSpc>
              <a:buFont typeface="Arial"/>
              <a:buChar char="•"/>
            </a:pPr>
            <a:r>
              <a:rPr lang="en-US" sz="3224" spc="74">
                <a:solidFill>
                  <a:srgbClr val="343434"/>
                </a:solidFill>
                <a:latin typeface="Asap"/>
                <a:ea typeface="Asap"/>
                <a:cs typeface="Asap"/>
                <a:sym typeface="Asap"/>
              </a:rPr>
              <a:t>Trường hợp 4 – Cực đoan: TCP 3.82 Mbps, UDP gần như mất dữ liệu, PDR thấp.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188000" y="2014521"/>
            <a:ext cx="15911999" cy="4574700"/>
          </a:xfrm>
          <a:custGeom>
            <a:avLst/>
            <a:gdLst/>
            <a:ahLst/>
            <a:cxnLst/>
            <a:rect l="l" t="t" r="r" b="b"/>
            <a:pathLst>
              <a:path w="15911999" h="4574700">
                <a:moveTo>
                  <a:pt x="0" y="0"/>
                </a:moveTo>
                <a:lnTo>
                  <a:pt x="15912000" y="0"/>
                </a:lnTo>
                <a:lnTo>
                  <a:pt x="15912000" y="4574699"/>
                </a:lnTo>
                <a:lnTo>
                  <a:pt x="0" y="4574699"/>
                </a:lnTo>
                <a:lnTo>
                  <a:pt x="0" y="0"/>
                </a:lnTo>
                <a:close/>
              </a:path>
            </a:pathLst>
          </a:custGeom>
          <a:blipFill>
            <a:blip r:embed="rId4"/>
            <a:stretch>
              <a:fillRect/>
            </a:stretch>
          </a:blipFill>
        </p:spPr>
      </p:sp>
      <p:sp>
        <p:nvSpPr>
          <p:cNvPr id="4" name="TextBox 4"/>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FILE KẾT QUẢ</a:t>
            </a:r>
          </a:p>
        </p:txBody>
      </p:sp>
      <p:sp>
        <p:nvSpPr>
          <p:cNvPr id="5" name="TextBox 5"/>
          <p:cNvSpPr txBox="1"/>
          <p:nvPr/>
        </p:nvSpPr>
        <p:spPr>
          <a:xfrm>
            <a:off x="1347301" y="6978009"/>
            <a:ext cx="15117694" cy="2280291"/>
          </a:xfrm>
          <a:prstGeom prst="rect">
            <a:avLst/>
          </a:prstGeom>
        </p:spPr>
        <p:txBody>
          <a:bodyPr lIns="0" tIns="0" rIns="0" bIns="0" rtlCol="0" anchor="t">
            <a:spAutoFit/>
          </a:bodyPr>
          <a:lstStyle/>
          <a:p>
            <a:pPr marL="696222" lvl="1" indent="-348111" algn="l">
              <a:lnSpc>
                <a:spcPts val="4514"/>
              </a:lnSpc>
              <a:buFont typeface="Arial"/>
              <a:buChar char="•"/>
            </a:pPr>
            <a:r>
              <a:rPr lang="en-US" sz="3224" spc="74">
                <a:solidFill>
                  <a:srgbClr val="343434"/>
                </a:solidFill>
                <a:latin typeface="Asap"/>
                <a:ea typeface="Asap"/>
                <a:cs typeface="Asap"/>
                <a:sym typeface="Asap"/>
              </a:rPr>
              <a:t>Nội dung file CSV: Chứa thời gian, throughput, số gói gửi/nhận, gói mất và dữ liệu tích lũy cho TCP/UDP.</a:t>
            </a:r>
          </a:p>
          <a:p>
            <a:pPr marL="696222" lvl="1" indent="-348111" algn="l">
              <a:lnSpc>
                <a:spcPts val="4514"/>
              </a:lnSpc>
              <a:buFont typeface="Arial"/>
              <a:buChar char="•"/>
            </a:pPr>
            <a:r>
              <a:rPr lang="en-US" sz="3224" spc="74">
                <a:solidFill>
                  <a:srgbClr val="343434"/>
                </a:solidFill>
                <a:latin typeface="Asap"/>
                <a:ea typeface="Asap"/>
                <a:cs typeface="Asap"/>
                <a:sym typeface="Asap"/>
              </a:rPr>
              <a:t>Mục đích: Dùng làm cơ sở vẽ đồ thị và tính toán hiệu suất, PDR, số gói và dữ liệu tích lũy.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757449" y="2630670"/>
            <a:ext cx="14773102" cy="7201887"/>
          </a:xfrm>
          <a:custGeom>
            <a:avLst/>
            <a:gdLst/>
            <a:ahLst/>
            <a:cxnLst/>
            <a:rect l="l" t="t" r="r" b="b"/>
            <a:pathLst>
              <a:path w="14773102" h="7201887">
                <a:moveTo>
                  <a:pt x="0" y="0"/>
                </a:moveTo>
                <a:lnTo>
                  <a:pt x="14773102" y="0"/>
                </a:lnTo>
                <a:lnTo>
                  <a:pt x="14773102" y="7201888"/>
                </a:lnTo>
                <a:lnTo>
                  <a:pt x="0" y="7201888"/>
                </a:lnTo>
                <a:lnTo>
                  <a:pt x="0" y="0"/>
                </a:lnTo>
                <a:close/>
              </a:path>
            </a:pathLst>
          </a:custGeom>
          <a:blipFill>
            <a:blip r:embed="rId4"/>
            <a:stretch>
              <a:fillRect/>
            </a:stretch>
          </a:blipFill>
        </p:spPr>
      </p:sp>
      <p:sp>
        <p:nvSpPr>
          <p:cNvPr id="4" name="TextBox 4"/>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KẾT QUẢ ĐỒ THỊ</a:t>
            </a:r>
          </a:p>
        </p:txBody>
      </p:sp>
      <p:sp>
        <p:nvSpPr>
          <p:cNvPr id="5" name="TextBox 5"/>
          <p:cNvSpPr txBox="1"/>
          <p:nvPr/>
        </p:nvSpPr>
        <p:spPr>
          <a:xfrm>
            <a:off x="595157" y="1769604"/>
            <a:ext cx="15117694" cy="565791"/>
          </a:xfrm>
          <a:prstGeom prst="rect">
            <a:avLst/>
          </a:prstGeom>
        </p:spPr>
        <p:txBody>
          <a:bodyPr lIns="0" tIns="0" rIns="0" bIns="0" rtlCol="0" anchor="t">
            <a:spAutoFit/>
          </a:bodyPr>
          <a:lstStyle/>
          <a:p>
            <a:pPr marL="696222" lvl="1" indent="-348111" algn="l">
              <a:lnSpc>
                <a:spcPts val="4514"/>
              </a:lnSpc>
              <a:buFont typeface="Arial"/>
              <a:buChar char="•"/>
            </a:pPr>
            <a:r>
              <a:rPr lang="en-US" sz="3224" spc="74">
                <a:solidFill>
                  <a:srgbClr val="343434"/>
                </a:solidFill>
                <a:latin typeface="Asap"/>
                <a:ea typeface="Asap"/>
                <a:cs typeface="Asap"/>
                <a:sym typeface="Asap"/>
              </a:rPr>
              <a:t>Kết quả đồ thị tổng hợp cho trường hợp lí tưởng: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795233" y="2630670"/>
            <a:ext cx="14697533" cy="7220163"/>
          </a:xfrm>
          <a:custGeom>
            <a:avLst/>
            <a:gdLst/>
            <a:ahLst/>
            <a:cxnLst/>
            <a:rect l="l" t="t" r="r" b="b"/>
            <a:pathLst>
              <a:path w="14697533" h="7220163">
                <a:moveTo>
                  <a:pt x="0" y="0"/>
                </a:moveTo>
                <a:lnTo>
                  <a:pt x="14697534" y="0"/>
                </a:lnTo>
                <a:lnTo>
                  <a:pt x="14697534" y="7220164"/>
                </a:lnTo>
                <a:lnTo>
                  <a:pt x="0" y="7220164"/>
                </a:lnTo>
                <a:lnTo>
                  <a:pt x="0" y="0"/>
                </a:lnTo>
                <a:close/>
              </a:path>
            </a:pathLst>
          </a:custGeom>
          <a:blipFill>
            <a:blip r:embed="rId4"/>
            <a:stretch>
              <a:fillRect/>
            </a:stretch>
          </a:blipFill>
        </p:spPr>
      </p:sp>
      <p:sp>
        <p:nvSpPr>
          <p:cNvPr id="4" name="TextBox 4"/>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KẾT QUẢ ĐỒ THỊ</a:t>
            </a:r>
          </a:p>
        </p:txBody>
      </p:sp>
      <p:sp>
        <p:nvSpPr>
          <p:cNvPr id="5" name="TextBox 5"/>
          <p:cNvSpPr txBox="1"/>
          <p:nvPr/>
        </p:nvSpPr>
        <p:spPr>
          <a:xfrm>
            <a:off x="595157" y="1769604"/>
            <a:ext cx="15117694" cy="565791"/>
          </a:xfrm>
          <a:prstGeom prst="rect">
            <a:avLst/>
          </a:prstGeom>
        </p:spPr>
        <p:txBody>
          <a:bodyPr lIns="0" tIns="0" rIns="0" bIns="0" rtlCol="0" anchor="t">
            <a:spAutoFit/>
          </a:bodyPr>
          <a:lstStyle/>
          <a:p>
            <a:pPr marL="696222" lvl="1" indent="-348111" algn="l">
              <a:lnSpc>
                <a:spcPts val="4514"/>
              </a:lnSpc>
              <a:buFont typeface="Arial"/>
              <a:buChar char="•"/>
            </a:pPr>
            <a:r>
              <a:rPr lang="en-US" sz="3224" spc="74">
                <a:solidFill>
                  <a:srgbClr val="343434"/>
                </a:solidFill>
                <a:latin typeface="Asap"/>
                <a:ea typeface="Asap"/>
                <a:cs typeface="Asap"/>
                <a:sym typeface="Asap"/>
              </a:rPr>
              <a:t>Kết quả đồ thị tổng hợp cho trường hợp tăng độ trễ nhưng giữ tải:</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746685" y="2630670"/>
            <a:ext cx="14794629" cy="7304848"/>
          </a:xfrm>
          <a:custGeom>
            <a:avLst/>
            <a:gdLst/>
            <a:ahLst/>
            <a:cxnLst/>
            <a:rect l="l" t="t" r="r" b="b"/>
            <a:pathLst>
              <a:path w="14794629" h="7304848">
                <a:moveTo>
                  <a:pt x="0" y="0"/>
                </a:moveTo>
                <a:lnTo>
                  <a:pt x="14794630" y="0"/>
                </a:lnTo>
                <a:lnTo>
                  <a:pt x="14794630" y="7304849"/>
                </a:lnTo>
                <a:lnTo>
                  <a:pt x="0" y="7304849"/>
                </a:lnTo>
                <a:lnTo>
                  <a:pt x="0" y="0"/>
                </a:lnTo>
                <a:close/>
              </a:path>
            </a:pathLst>
          </a:custGeom>
          <a:blipFill>
            <a:blip r:embed="rId4"/>
            <a:stretch>
              <a:fillRect/>
            </a:stretch>
          </a:blipFill>
        </p:spPr>
      </p:sp>
      <p:sp>
        <p:nvSpPr>
          <p:cNvPr id="4" name="TextBox 4"/>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KẾT QUẢ ĐỒ THỊ</a:t>
            </a:r>
          </a:p>
        </p:txBody>
      </p:sp>
      <p:sp>
        <p:nvSpPr>
          <p:cNvPr id="5" name="TextBox 5"/>
          <p:cNvSpPr txBox="1"/>
          <p:nvPr/>
        </p:nvSpPr>
        <p:spPr>
          <a:xfrm>
            <a:off x="595157" y="1769604"/>
            <a:ext cx="15117694" cy="565791"/>
          </a:xfrm>
          <a:prstGeom prst="rect">
            <a:avLst/>
          </a:prstGeom>
        </p:spPr>
        <p:txBody>
          <a:bodyPr lIns="0" tIns="0" rIns="0" bIns="0" rtlCol="0" anchor="t">
            <a:spAutoFit/>
          </a:bodyPr>
          <a:lstStyle/>
          <a:p>
            <a:pPr marL="696222" lvl="1" indent="-348111" algn="l">
              <a:lnSpc>
                <a:spcPts val="4514"/>
              </a:lnSpc>
              <a:buFont typeface="Arial"/>
              <a:buChar char="•"/>
            </a:pPr>
            <a:r>
              <a:rPr lang="en-US" sz="3224" spc="74">
                <a:solidFill>
                  <a:srgbClr val="343434"/>
                </a:solidFill>
                <a:latin typeface="Asap"/>
                <a:ea typeface="Asap"/>
                <a:cs typeface="Asap"/>
                <a:sym typeface="Asap"/>
              </a:rPr>
              <a:t>Kết quả đồ thị tổng hợp cho trường hợp tăng tải nhưng giữ độ trễ:</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766037" y="2630670"/>
            <a:ext cx="14755925" cy="7359518"/>
          </a:xfrm>
          <a:custGeom>
            <a:avLst/>
            <a:gdLst/>
            <a:ahLst/>
            <a:cxnLst/>
            <a:rect l="l" t="t" r="r" b="b"/>
            <a:pathLst>
              <a:path w="14755925" h="7359518">
                <a:moveTo>
                  <a:pt x="0" y="0"/>
                </a:moveTo>
                <a:lnTo>
                  <a:pt x="14755926" y="0"/>
                </a:lnTo>
                <a:lnTo>
                  <a:pt x="14755926" y="7359518"/>
                </a:lnTo>
                <a:lnTo>
                  <a:pt x="0" y="7359518"/>
                </a:lnTo>
                <a:lnTo>
                  <a:pt x="0" y="0"/>
                </a:lnTo>
                <a:close/>
              </a:path>
            </a:pathLst>
          </a:custGeom>
          <a:blipFill>
            <a:blip r:embed="rId4"/>
            <a:stretch>
              <a:fillRect/>
            </a:stretch>
          </a:blipFill>
        </p:spPr>
      </p:sp>
      <p:sp>
        <p:nvSpPr>
          <p:cNvPr id="4" name="TextBox 4"/>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KẾT QUẢ ĐỒ THỊ</a:t>
            </a:r>
          </a:p>
        </p:txBody>
      </p:sp>
      <p:sp>
        <p:nvSpPr>
          <p:cNvPr id="5" name="TextBox 5"/>
          <p:cNvSpPr txBox="1"/>
          <p:nvPr/>
        </p:nvSpPr>
        <p:spPr>
          <a:xfrm>
            <a:off x="595157" y="1769604"/>
            <a:ext cx="15117694" cy="565791"/>
          </a:xfrm>
          <a:prstGeom prst="rect">
            <a:avLst/>
          </a:prstGeom>
        </p:spPr>
        <p:txBody>
          <a:bodyPr lIns="0" tIns="0" rIns="0" bIns="0" rtlCol="0" anchor="t">
            <a:spAutoFit/>
          </a:bodyPr>
          <a:lstStyle/>
          <a:p>
            <a:pPr marL="696222" lvl="1" indent="-348111" algn="l">
              <a:lnSpc>
                <a:spcPts val="4514"/>
              </a:lnSpc>
              <a:buFont typeface="Arial"/>
              <a:buChar char="•"/>
            </a:pPr>
            <a:r>
              <a:rPr lang="en-US" sz="3224" spc="74">
                <a:solidFill>
                  <a:srgbClr val="343434"/>
                </a:solidFill>
                <a:latin typeface="Asap"/>
                <a:ea typeface="Asap"/>
                <a:cs typeface="Asap"/>
                <a:sym typeface="Asap"/>
              </a:rPr>
              <a:t>Kết quả đồ thị tổng hợp cho trường hợp cực đoan: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515709" y="2846779"/>
            <a:ext cx="8493643" cy="3220179"/>
          </a:xfrm>
          <a:custGeom>
            <a:avLst/>
            <a:gdLst/>
            <a:ahLst/>
            <a:cxnLst/>
            <a:rect l="l" t="t" r="r" b="b"/>
            <a:pathLst>
              <a:path w="8493643" h="3220179">
                <a:moveTo>
                  <a:pt x="0" y="0"/>
                </a:moveTo>
                <a:lnTo>
                  <a:pt x="8493643" y="0"/>
                </a:lnTo>
                <a:lnTo>
                  <a:pt x="8493643" y="3220179"/>
                </a:lnTo>
                <a:lnTo>
                  <a:pt x="0" y="3220179"/>
                </a:lnTo>
                <a:lnTo>
                  <a:pt x="0" y="0"/>
                </a:lnTo>
                <a:close/>
              </a:path>
            </a:pathLst>
          </a:custGeom>
          <a:blipFill>
            <a:blip r:embed="rId4"/>
            <a:stretch>
              <a:fillRect/>
            </a:stretch>
          </a:blipFill>
        </p:spPr>
      </p:sp>
      <p:sp>
        <p:nvSpPr>
          <p:cNvPr id="4" name="Freeform 4"/>
          <p:cNvSpPr/>
          <p:nvPr/>
        </p:nvSpPr>
        <p:spPr>
          <a:xfrm>
            <a:off x="9247477" y="2857500"/>
            <a:ext cx="8524814" cy="3193994"/>
          </a:xfrm>
          <a:custGeom>
            <a:avLst/>
            <a:gdLst/>
            <a:ahLst/>
            <a:cxnLst/>
            <a:rect l="l" t="t" r="r" b="b"/>
            <a:pathLst>
              <a:path w="8524814" h="3193994">
                <a:moveTo>
                  <a:pt x="0" y="0"/>
                </a:moveTo>
                <a:lnTo>
                  <a:pt x="8524814" y="0"/>
                </a:lnTo>
                <a:lnTo>
                  <a:pt x="8524814" y="3193994"/>
                </a:lnTo>
                <a:lnTo>
                  <a:pt x="0" y="3193994"/>
                </a:lnTo>
                <a:lnTo>
                  <a:pt x="0" y="0"/>
                </a:lnTo>
                <a:close/>
              </a:path>
            </a:pathLst>
          </a:custGeom>
          <a:blipFill>
            <a:blip r:embed="rId5"/>
            <a:stretch>
              <a:fillRect/>
            </a:stretch>
          </a:blipFill>
        </p:spPr>
      </p:sp>
      <p:sp>
        <p:nvSpPr>
          <p:cNvPr id="5" name="TextBox 5"/>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BẢNG TỔNG HỢP</a:t>
            </a:r>
          </a:p>
        </p:txBody>
      </p:sp>
      <p:sp>
        <p:nvSpPr>
          <p:cNvPr id="6" name="TextBox 6"/>
          <p:cNvSpPr txBox="1"/>
          <p:nvPr/>
        </p:nvSpPr>
        <p:spPr>
          <a:xfrm>
            <a:off x="857891" y="1829267"/>
            <a:ext cx="7809279" cy="735389"/>
          </a:xfrm>
          <a:prstGeom prst="rect">
            <a:avLst/>
          </a:prstGeom>
        </p:spPr>
        <p:txBody>
          <a:bodyPr lIns="0" tIns="0" rIns="0" bIns="0" rtlCol="0" anchor="t">
            <a:spAutoFit/>
          </a:bodyPr>
          <a:lstStyle/>
          <a:p>
            <a:pPr algn="l">
              <a:lnSpc>
                <a:spcPts val="1568"/>
              </a:lnSpc>
            </a:pPr>
            <a:endParaRPr/>
          </a:p>
          <a:p>
            <a:pPr algn="ctr">
              <a:lnSpc>
                <a:spcPts val="4514"/>
              </a:lnSpc>
            </a:pPr>
            <a:r>
              <a:rPr lang="en-US" sz="3224" spc="74">
                <a:solidFill>
                  <a:srgbClr val="343434"/>
                </a:solidFill>
                <a:latin typeface="Asap"/>
                <a:ea typeface="Asap"/>
                <a:cs typeface="Asap"/>
                <a:sym typeface="Asap"/>
              </a:rPr>
              <a:t>Về TCP:</a:t>
            </a:r>
          </a:p>
        </p:txBody>
      </p:sp>
      <p:sp>
        <p:nvSpPr>
          <p:cNvPr id="7" name="TextBox 7"/>
          <p:cNvSpPr txBox="1"/>
          <p:nvPr/>
        </p:nvSpPr>
        <p:spPr>
          <a:xfrm>
            <a:off x="9605244" y="1829267"/>
            <a:ext cx="7809279" cy="735389"/>
          </a:xfrm>
          <a:prstGeom prst="rect">
            <a:avLst/>
          </a:prstGeom>
        </p:spPr>
        <p:txBody>
          <a:bodyPr lIns="0" tIns="0" rIns="0" bIns="0" rtlCol="0" anchor="t">
            <a:spAutoFit/>
          </a:bodyPr>
          <a:lstStyle/>
          <a:p>
            <a:pPr algn="l">
              <a:lnSpc>
                <a:spcPts val="1568"/>
              </a:lnSpc>
            </a:pPr>
            <a:endParaRPr/>
          </a:p>
          <a:p>
            <a:pPr algn="ctr">
              <a:lnSpc>
                <a:spcPts val="4514"/>
              </a:lnSpc>
            </a:pPr>
            <a:r>
              <a:rPr lang="en-US" sz="3224" spc="74">
                <a:solidFill>
                  <a:srgbClr val="343434"/>
                </a:solidFill>
                <a:latin typeface="Asap"/>
                <a:ea typeface="Asap"/>
                <a:cs typeface="Asap"/>
                <a:sym typeface="Asap"/>
              </a:rPr>
              <a:t>Về UDP:</a:t>
            </a:r>
          </a:p>
        </p:txBody>
      </p:sp>
      <p:sp>
        <p:nvSpPr>
          <p:cNvPr id="8" name="TextBox 8"/>
          <p:cNvSpPr txBox="1"/>
          <p:nvPr/>
        </p:nvSpPr>
        <p:spPr>
          <a:xfrm>
            <a:off x="1028700" y="6736070"/>
            <a:ext cx="16230600" cy="1708791"/>
          </a:xfrm>
          <a:prstGeom prst="rect">
            <a:avLst/>
          </a:prstGeom>
        </p:spPr>
        <p:txBody>
          <a:bodyPr lIns="0" tIns="0" rIns="0" bIns="0" rtlCol="0" anchor="t">
            <a:spAutoFit/>
          </a:bodyPr>
          <a:lstStyle/>
          <a:p>
            <a:pPr marL="696222" lvl="1" indent="-348111" algn="l">
              <a:lnSpc>
                <a:spcPts val="4514"/>
              </a:lnSpc>
              <a:buFont typeface="Arial"/>
              <a:buChar char="•"/>
            </a:pPr>
            <a:r>
              <a:rPr lang="en-US" sz="3224" spc="74">
                <a:solidFill>
                  <a:srgbClr val="343434"/>
                </a:solidFill>
                <a:latin typeface="Asap"/>
                <a:ea typeface="Asap"/>
                <a:cs typeface="Asap"/>
                <a:sym typeface="Asap"/>
              </a:rPr>
              <a:t>Hiệu suất tối đa: TCP &amp; UDP ~50 Mbps, PDR ~100% khi tải thấp, delay thấp.</a:t>
            </a:r>
          </a:p>
          <a:p>
            <a:pPr marL="696222" lvl="1" indent="-348111" algn="l">
              <a:lnSpc>
                <a:spcPts val="4514"/>
              </a:lnSpc>
              <a:buFont typeface="Arial"/>
              <a:buChar char="•"/>
            </a:pPr>
            <a:r>
              <a:rPr lang="en-US" sz="3224" spc="74">
                <a:solidFill>
                  <a:srgbClr val="343434"/>
                </a:solidFill>
                <a:latin typeface="Asap"/>
                <a:ea typeface="Asap"/>
                <a:cs typeface="Asap"/>
                <a:sym typeface="Asap"/>
              </a:rPr>
              <a:t>Độ tin cậy: TCP ổn định, tự điều chỉnh khi quá tải; UDP mất gói nghiêm trọng.</a:t>
            </a:r>
          </a:p>
          <a:p>
            <a:pPr marL="696222" lvl="1" indent="-348111" algn="l">
              <a:lnSpc>
                <a:spcPts val="4514"/>
              </a:lnSpc>
              <a:buFont typeface="Arial"/>
              <a:buChar char="•"/>
            </a:pPr>
            <a:r>
              <a:rPr lang="en-US" sz="3224" spc="74">
                <a:solidFill>
                  <a:srgbClr val="343434"/>
                </a:solidFill>
                <a:latin typeface="Asap"/>
                <a:ea typeface="Asap"/>
                <a:cs typeface="Asap"/>
                <a:sym typeface="Asap"/>
              </a:rPr>
              <a:t>Ảnh hưởng delay: TCP giảm mạnh, UDP rất bất ổn (PDR thấp) khi delay cao.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028700" y="2385853"/>
            <a:ext cx="8115300" cy="813614"/>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7" name="Freeform 7"/>
          <p:cNvSpPr/>
          <p:nvPr/>
        </p:nvSpPr>
        <p:spPr>
          <a:xfrm>
            <a:off x="1028700" y="3576505"/>
            <a:ext cx="8115300" cy="813614"/>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10" name="Freeform 10"/>
          <p:cNvSpPr/>
          <p:nvPr/>
        </p:nvSpPr>
        <p:spPr>
          <a:xfrm>
            <a:off x="1028700" y="4771118"/>
            <a:ext cx="8115300" cy="813614"/>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grpSp>
        <p:nvGrpSpPr>
          <p:cNvPr id="12" name="Group 12"/>
          <p:cNvGrpSpPr/>
          <p:nvPr/>
        </p:nvGrpSpPr>
        <p:grpSpPr>
          <a:xfrm>
            <a:off x="1028700" y="5965732"/>
            <a:ext cx="8115300" cy="813614"/>
            <a:chOff x="0" y="0"/>
            <a:chExt cx="2074719" cy="208005"/>
          </a:xfrm>
        </p:grpSpPr>
        <p:sp>
          <p:nvSpPr>
            <p:cNvPr id="13" name="Freeform 13"/>
            <p:cNvSpPr/>
            <p:nvPr/>
          </p:nvSpPr>
          <p:spPr>
            <a:xfrm>
              <a:off x="0" y="0"/>
              <a:ext cx="2074719" cy="208005"/>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ED3D3"/>
            </a:solidFill>
            <a:ln w="28575" cap="sq">
              <a:solidFill>
                <a:srgbClr val="000000"/>
              </a:solidFill>
              <a:prstDash val="solid"/>
              <a:miter/>
            </a:ln>
          </p:spPr>
        </p:sp>
        <p:sp>
          <p:nvSpPr>
            <p:cNvPr id="14" name="TextBox 14"/>
            <p:cNvSpPr txBox="1"/>
            <p:nvPr/>
          </p:nvSpPr>
          <p:spPr>
            <a:xfrm>
              <a:off x="0" y="-76200"/>
              <a:ext cx="2074719" cy="284205"/>
            </a:xfrm>
            <a:prstGeom prst="rect">
              <a:avLst/>
            </a:prstGeom>
          </p:spPr>
          <p:txBody>
            <a:bodyPr lIns="50800" tIns="50800" rIns="50800" bIns="50800" rtlCol="0" anchor="ctr"/>
            <a:lstStyle/>
            <a:p>
              <a:pPr algn="ctr">
                <a:lnSpc>
                  <a:spcPts val="4339"/>
                </a:lnSpc>
              </a:pPr>
              <a:endParaRPr lang="en-US" sz="3099">
                <a:solidFill>
                  <a:srgbClr val="000000"/>
                </a:solidFill>
                <a:latin typeface="Asap"/>
                <a:ea typeface="Asap"/>
                <a:cs typeface="Asap"/>
                <a:sym typeface="Asap"/>
              </a:endParaRPr>
            </a:p>
          </p:txBody>
        </p:sp>
      </p:grpSp>
      <p:grpSp>
        <p:nvGrpSpPr>
          <p:cNvPr id="15" name="Group 15"/>
          <p:cNvGrpSpPr/>
          <p:nvPr/>
        </p:nvGrpSpPr>
        <p:grpSpPr>
          <a:xfrm>
            <a:off x="1028700" y="7160345"/>
            <a:ext cx="8115300" cy="813614"/>
            <a:chOff x="0" y="0"/>
            <a:chExt cx="2074719" cy="208005"/>
          </a:xfrm>
        </p:grpSpPr>
        <p:sp>
          <p:nvSpPr>
            <p:cNvPr id="16" name="Freeform 16"/>
            <p:cNvSpPr/>
            <p:nvPr/>
          </p:nvSpPr>
          <p:spPr>
            <a:xfrm>
              <a:off x="0" y="0"/>
              <a:ext cx="2074719" cy="208005"/>
            </a:xfrm>
            <a:custGeom>
              <a:avLst/>
              <a:gdLst/>
              <a:ahLst/>
              <a:cxnLst/>
              <a:rect l="l" t="t" r="r" b="b"/>
              <a:pathLst>
                <a:path w="2074719" h="208005">
                  <a:moveTo>
                    <a:pt x="1871519" y="0"/>
                  </a:moveTo>
                  <a:cubicBezTo>
                    <a:pt x="1983743" y="0"/>
                    <a:pt x="2074719" y="46563"/>
                    <a:pt x="2074719" y="104002"/>
                  </a:cubicBezTo>
                  <a:cubicBezTo>
                    <a:pt x="2074719" y="161441"/>
                    <a:pt x="1983743" y="208005"/>
                    <a:pt x="1871519" y="208005"/>
                  </a:cubicBezTo>
                  <a:lnTo>
                    <a:pt x="203200" y="208005"/>
                  </a:lnTo>
                  <a:cubicBezTo>
                    <a:pt x="90976" y="208005"/>
                    <a:pt x="0" y="161441"/>
                    <a:pt x="0" y="104002"/>
                  </a:cubicBezTo>
                  <a:cubicBezTo>
                    <a:pt x="0" y="46563"/>
                    <a:pt x="90976" y="0"/>
                    <a:pt x="203200" y="0"/>
                  </a:cubicBezTo>
                  <a:close/>
                </a:path>
              </a:pathLst>
            </a:custGeom>
            <a:solidFill>
              <a:srgbClr val="FFD5A4"/>
            </a:solidFill>
            <a:ln w="28575" cap="sq">
              <a:solidFill>
                <a:srgbClr val="000000"/>
              </a:solidFill>
              <a:prstDash val="solid"/>
              <a:miter/>
            </a:ln>
          </p:spPr>
        </p:sp>
        <p:sp>
          <p:nvSpPr>
            <p:cNvPr id="17" name="TextBox 17"/>
            <p:cNvSpPr txBox="1"/>
            <p:nvPr/>
          </p:nvSpPr>
          <p:spPr>
            <a:xfrm>
              <a:off x="0" y="-76200"/>
              <a:ext cx="2074719" cy="284205"/>
            </a:xfrm>
            <a:prstGeom prst="rect">
              <a:avLst/>
            </a:prstGeom>
          </p:spPr>
          <p:txBody>
            <a:bodyPr lIns="50800" tIns="50800" rIns="50800" bIns="50800" rtlCol="0" anchor="ctr"/>
            <a:lstStyle/>
            <a:p>
              <a:pPr algn="ctr">
                <a:lnSpc>
                  <a:spcPts val="4339"/>
                </a:lnSpc>
              </a:pPr>
              <a:endParaRPr lang="en-US" sz="3099">
                <a:solidFill>
                  <a:srgbClr val="000000"/>
                </a:solidFill>
                <a:latin typeface="Asap"/>
                <a:ea typeface="Asap"/>
                <a:cs typeface="Asap"/>
                <a:sym typeface="Asap"/>
              </a:endParaRPr>
            </a:p>
          </p:txBody>
        </p:sp>
      </p:grpSp>
      <p:sp>
        <p:nvSpPr>
          <p:cNvPr id="18" name="TextBox 18"/>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NỘI DUNG</a:t>
            </a:r>
          </a:p>
        </p:txBody>
      </p:sp>
      <p:sp>
        <p:nvSpPr>
          <p:cNvPr id="19" name="Freeform 19"/>
          <p:cNvSpPr/>
          <p:nvPr/>
        </p:nvSpPr>
        <p:spPr>
          <a:xfrm>
            <a:off x="10251035" y="1114858"/>
            <a:ext cx="7289657" cy="4169218"/>
          </a:xfrm>
          <a:custGeom>
            <a:avLst/>
            <a:gdLst/>
            <a:ahLst/>
            <a:cxnLst/>
            <a:rect l="l" t="t" r="r" b="b"/>
            <a:pathLst>
              <a:path w="7289657" h="4169218">
                <a:moveTo>
                  <a:pt x="0" y="0"/>
                </a:moveTo>
                <a:lnTo>
                  <a:pt x="7289658" y="0"/>
                </a:lnTo>
                <a:lnTo>
                  <a:pt x="7289658" y="4169218"/>
                </a:lnTo>
                <a:lnTo>
                  <a:pt x="0" y="4169218"/>
                </a:lnTo>
                <a:lnTo>
                  <a:pt x="0" y="0"/>
                </a:lnTo>
                <a:close/>
              </a:path>
            </a:pathLst>
          </a:custGeom>
          <a:blipFill>
            <a:blip r:embed="rId4"/>
            <a:stretch>
              <a:fillRect/>
            </a:stretch>
          </a:blipFill>
        </p:spPr>
      </p:sp>
      <p:sp>
        <p:nvSpPr>
          <p:cNvPr id="20" name="Freeform 20"/>
          <p:cNvSpPr/>
          <p:nvPr/>
        </p:nvSpPr>
        <p:spPr>
          <a:xfrm>
            <a:off x="10532428" y="4919060"/>
            <a:ext cx="6726872" cy="3324902"/>
          </a:xfrm>
          <a:custGeom>
            <a:avLst/>
            <a:gdLst/>
            <a:ahLst/>
            <a:cxnLst/>
            <a:rect l="l" t="t" r="r" b="b"/>
            <a:pathLst>
              <a:path w="6726872" h="3324902">
                <a:moveTo>
                  <a:pt x="0" y="0"/>
                </a:moveTo>
                <a:lnTo>
                  <a:pt x="6726872" y="0"/>
                </a:lnTo>
                <a:lnTo>
                  <a:pt x="6726872" y="3324902"/>
                </a:lnTo>
                <a:lnTo>
                  <a:pt x="0" y="3324902"/>
                </a:lnTo>
                <a:lnTo>
                  <a:pt x="0" y="0"/>
                </a:lnTo>
                <a:close/>
              </a:path>
            </a:pathLst>
          </a:custGeom>
          <a:blipFill>
            <a:blip r:embed="rId5"/>
            <a:stretch>
              <a:fillRect/>
            </a:stretch>
          </a:blipFill>
        </p:spPr>
      </p:sp>
      <p:sp>
        <p:nvSpPr>
          <p:cNvPr id="21" name="TextBox 5"/>
          <p:cNvSpPr txBox="1"/>
          <p:nvPr/>
        </p:nvSpPr>
        <p:spPr>
          <a:xfrm>
            <a:off x="1028700" y="2236824"/>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Giới thiệu</a:t>
            </a:r>
          </a:p>
        </p:txBody>
      </p:sp>
      <p:sp>
        <p:nvSpPr>
          <p:cNvPr id="22" name="TextBox 8"/>
          <p:cNvSpPr txBox="1"/>
          <p:nvPr/>
        </p:nvSpPr>
        <p:spPr>
          <a:xfrm>
            <a:off x="1028700" y="3427476"/>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Phương pháp</a:t>
            </a:r>
          </a:p>
        </p:txBody>
      </p:sp>
      <p:sp>
        <p:nvSpPr>
          <p:cNvPr id="23" name="TextBox 11"/>
          <p:cNvSpPr txBox="1"/>
          <p:nvPr/>
        </p:nvSpPr>
        <p:spPr>
          <a:xfrm>
            <a:off x="1028700" y="4622089"/>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Công cụ sử dụng</a:t>
            </a:r>
          </a:p>
        </p:txBody>
      </p:sp>
      <p:sp>
        <p:nvSpPr>
          <p:cNvPr id="24" name="TextBox 14"/>
          <p:cNvSpPr txBox="1"/>
          <p:nvPr/>
        </p:nvSpPr>
        <p:spPr>
          <a:xfrm>
            <a:off x="1028700" y="5816703"/>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Phân tích kết quả</a:t>
            </a:r>
          </a:p>
        </p:txBody>
      </p:sp>
      <p:sp>
        <p:nvSpPr>
          <p:cNvPr id="25" name="TextBox 17"/>
          <p:cNvSpPr txBox="1"/>
          <p:nvPr/>
        </p:nvSpPr>
        <p:spPr>
          <a:xfrm>
            <a:off x="1028700" y="7011316"/>
            <a:ext cx="8115300" cy="1111671"/>
          </a:xfrm>
          <a:prstGeom prst="rect">
            <a:avLst/>
          </a:prstGeom>
        </p:spPr>
        <p:txBody>
          <a:bodyPr lIns="50800" tIns="50800" rIns="50800" bIns="50800" rtlCol="0" anchor="ctr"/>
          <a:lstStyle/>
          <a:p>
            <a:pPr algn="ctr">
              <a:lnSpc>
                <a:spcPts val="4339"/>
              </a:lnSpc>
            </a:pPr>
            <a:r>
              <a:rPr lang="en-US" sz="3099">
                <a:solidFill>
                  <a:srgbClr val="000000"/>
                </a:solidFill>
                <a:latin typeface="Asap"/>
                <a:ea typeface="Asap"/>
                <a:cs typeface="Asap"/>
                <a:sym typeface="Asap"/>
              </a:rPr>
              <a:t>Kết luận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722887" y="-4247682"/>
            <a:ext cx="19258069" cy="19258069"/>
          </a:xfrm>
          <a:custGeom>
            <a:avLst/>
            <a:gdLst/>
            <a:ahLst/>
            <a:cxnLst/>
            <a:rect l="l" t="t" r="r" b="b"/>
            <a:pathLst>
              <a:path w="19258069" h="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595157" y="612642"/>
            <a:ext cx="12964141" cy="936890"/>
          </a:xfrm>
          <a:prstGeom prst="rect">
            <a:avLst/>
          </a:prstGeom>
        </p:spPr>
        <p:txBody>
          <a:bodyPr lIns="0" tIns="0" rIns="0" bIns="0" rtlCol="0" anchor="t">
            <a:spAutoFit/>
          </a:bodyPr>
          <a:lstStyle/>
          <a:p>
            <a:pPr algn="l">
              <a:lnSpc>
                <a:spcPts val="6921"/>
              </a:lnSpc>
            </a:pPr>
            <a:r>
              <a:rPr lang="en-US" sz="6853" b="1" spc="157">
                <a:solidFill>
                  <a:srgbClr val="702782"/>
                </a:solidFill>
                <a:latin typeface="Asap Bold"/>
                <a:ea typeface="Asap Bold"/>
                <a:cs typeface="Asap Bold"/>
                <a:sym typeface="Asap Bold"/>
              </a:rPr>
              <a:t>KẾT LUẬN</a:t>
            </a:r>
          </a:p>
        </p:txBody>
      </p:sp>
      <p:sp>
        <p:nvSpPr>
          <p:cNvPr id="4" name="Freeform 4"/>
          <p:cNvSpPr/>
          <p:nvPr/>
        </p:nvSpPr>
        <p:spPr>
          <a:xfrm>
            <a:off x="10251035" y="1114858"/>
            <a:ext cx="7289657" cy="4169218"/>
          </a:xfrm>
          <a:custGeom>
            <a:avLst/>
            <a:gdLst/>
            <a:ahLst/>
            <a:cxnLst/>
            <a:rect l="l" t="t" r="r" b="b"/>
            <a:pathLst>
              <a:path w="7289657" h="4169218">
                <a:moveTo>
                  <a:pt x="0" y="0"/>
                </a:moveTo>
                <a:lnTo>
                  <a:pt x="7289658" y="0"/>
                </a:lnTo>
                <a:lnTo>
                  <a:pt x="7289658" y="4169218"/>
                </a:lnTo>
                <a:lnTo>
                  <a:pt x="0" y="4169218"/>
                </a:lnTo>
                <a:lnTo>
                  <a:pt x="0" y="0"/>
                </a:lnTo>
                <a:close/>
              </a:path>
            </a:pathLst>
          </a:custGeom>
          <a:blipFill>
            <a:blip r:embed="rId4"/>
            <a:stretch>
              <a:fillRect/>
            </a:stretch>
          </a:blipFill>
        </p:spPr>
      </p:sp>
      <p:sp>
        <p:nvSpPr>
          <p:cNvPr id="5" name="Freeform 5"/>
          <p:cNvSpPr/>
          <p:nvPr/>
        </p:nvSpPr>
        <p:spPr>
          <a:xfrm>
            <a:off x="10532428" y="4919060"/>
            <a:ext cx="6726872" cy="3324902"/>
          </a:xfrm>
          <a:custGeom>
            <a:avLst/>
            <a:gdLst/>
            <a:ahLst/>
            <a:cxnLst/>
            <a:rect l="l" t="t" r="r" b="b"/>
            <a:pathLst>
              <a:path w="6726872" h="3324902">
                <a:moveTo>
                  <a:pt x="0" y="0"/>
                </a:moveTo>
                <a:lnTo>
                  <a:pt x="6726872" y="0"/>
                </a:lnTo>
                <a:lnTo>
                  <a:pt x="6726872" y="3324902"/>
                </a:lnTo>
                <a:lnTo>
                  <a:pt x="0" y="3324902"/>
                </a:lnTo>
                <a:lnTo>
                  <a:pt x="0" y="0"/>
                </a:lnTo>
                <a:close/>
              </a:path>
            </a:pathLst>
          </a:custGeom>
          <a:blipFill>
            <a:blip r:embed="rId5"/>
            <a:stretch>
              <a:fillRect/>
            </a:stretch>
          </a:blipFill>
        </p:spPr>
      </p:sp>
      <p:sp>
        <p:nvSpPr>
          <p:cNvPr id="6" name="TextBox 6"/>
          <p:cNvSpPr txBox="1"/>
          <p:nvPr/>
        </p:nvSpPr>
        <p:spPr>
          <a:xfrm>
            <a:off x="1028700" y="2616094"/>
            <a:ext cx="8115300" cy="5307389"/>
          </a:xfrm>
          <a:prstGeom prst="rect">
            <a:avLst/>
          </a:prstGeom>
        </p:spPr>
        <p:txBody>
          <a:bodyPr lIns="0" tIns="0" rIns="0" bIns="0" rtlCol="0" anchor="t">
            <a:spAutoFit/>
          </a:bodyPr>
          <a:lstStyle/>
          <a:p>
            <a:pPr algn="l">
              <a:lnSpc>
                <a:spcPts val="1568"/>
              </a:lnSpc>
            </a:pPr>
            <a:endParaRPr/>
          </a:p>
          <a:p>
            <a:pPr marL="696222" lvl="1" indent="-348111" algn="l">
              <a:lnSpc>
                <a:spcPts val="4514"/>
              </a:lnSpc>
              <a:buFont typeface="Arial"/>
              <a:buChar char="•"/>
            </a:pPr>
            <a:r>
              <a:rPr lang="en-US" sz="3224" spc="74">
                <a:solidFill>
                  <a:srgbClr val="343434"/>
                </a:solidFill>
                <a:latin typeface="Asap"/>
                <a:ea typeface="Asap"/>
                <a:cs typeface="Asap"/>
                <a:sym typeface="Asap"/>
              </a:rPr>
              <a:t>TCP: Độ tin cậy cao, PDR gần 100%, nhưng thông lượng giảm khi quá tải hoặc delay cao.</a:t>
            </a:r>
          </a:p>
          <a:p>
            <a:pPr marL="696222" lvl="1" indent="-348111" algn="l">
              <a:lnSpc>
                <a:spcPts val="4514"/>
              </a:lnSpc>
              <a:buFont typeface="Arial"/>
              <a:buChar char="•"/>
            </a:pPr>
            <a:r>
              <a:rPr lang="en-US" sz="3224" spc="74">
                <a:solidFill>
                  <a:srgbClr val="343434"/>
                </a:solidFill>
                <a:latin typeface="Asap"/>
                <a:ea typeface="Asap"/>
                <a:cs typeface="Asap"/>
                <a:sym typeface="Asap"/>
              </a:rPr>
              <a:t>UDP: Ưu tiên tốc độ, thông lượng cao nhưng mất gói nghiêm trọng, sụp đổ khi mạng xấu.</a:t>
            </a:r>
          </a:p>
          <a:p>
            <a:pPr marL="696222" lvl="1" indent="-348111" algn="l">
              <a:lnSpc>
                <a:spcPts val="4514"/>
              </a:lnSpc>
              <a:buFont typeface="Arial"/>
              <a:buChar char="•"/>
            </a:pPr>
            <a:r>
              <a:rPr lang="en-US" sz="3224" spc="74">
                <a:solidFill>
                  <a:srgbClr val="343434"/>
                </a:solidFill>
                <a:latin typeface="Asap"/>
                <a:ea typeface="Asap"/>
                <a:cs typeface="Asap"/>
                <a:sym typeface="Asap"/>
              </a:rPr>
              <a:t>Tải &amp; delay thấp: Cả TCP &amp; UDP đạt hiệu suất tối đa → overhead TCP không đáng kể.</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485035" y="-4485535"/>
            <a:ext cx="19258069" cy="19258069"/>
          </a:xfrm>
          <a:custGeom>
            <a:avLst/>
            <a:gdLst/>
            <a:ahLst/>
            <a:cxnLst/>
            <a:rect l="l" t="t" r="r" b="b"/>
            <a:pathLst>
              <a:path w="19258069" h="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4606522" y="3033619"/>
            <a:ext cx="7828667" cy="3074531"/>
          </a:xfrm>
          <a:custGeom>
            <a:avLst/>
            <a:gdLst/>
            <a:ahLst/>
            <a:cxnLst/>
            <a:rect l="l" t="t" r="r" b="b"/>
            <a:pathLst>
              <a:path w="7828667" h="3074531">
                <a:moveTo>
                  <a:pt x="0" y="0"/>
                </a:moveTo>
                <a:lnTo>
                  <a:pt x="7828667" y="0"/>
                </a:lnTo>
                <a:lnTo>
                  <a:pt x="7828667" y="3074531"/>
                </a:lnTo>
                <a:lnTo>
                  <a:pt x="0" y="307453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12435189" y="1697971"/>
            <a:ext cx="4733961" cy="5270605"/>
          </a:xfrm>
          <a:custGeom>
            <a:avLst/>
            <a:gdLst/>
            <a:ahLst/>
            <a:cxnLst/>
            <a:rect l="l" t="t" r="r" b="b"/>
            <a:pathLst>
              <a:path w="4733961" h="5270605">
                <a:moveTo>
                  <a:pt x="0" y="0"/>
                </a:moveTo>
                <a:lnTo>
                  <a:pt x="4733961" y="0"/>
                </a:lnTo>
                <a:lnTo>
                  <a:pt x="4733961" y="5270605"/>
                </a:lnTo>
                <a:lnTo>
                  <a:pt x="0" y="5270605"/>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Freeform 5"/>
          <p:cNvSpPr/>
          <p:nvPr/>
        </p:nvSpPr>
        <p:spPr>
          <a:xfrm>
            <a:off x="620021" y="2808945"/>
            <a:ext cx="3491844" cy="3523879"/>
          </a:xfrm>
          <a:custGeom>
            <a:avLst/>
            <a:gdLst/>
            <a:ahLst/>
            <a:cxnLst/>
            <a:rect l="l" t="t" r="r" b="b"/>
            <a:pathLst>
              <a:path w="3491844" h="3523879">
                <a:moveTo>
                  <a:pt x="0" y="0"/>
                </a:moveTo>
                <a:lnTo>
                  <a:pt x="3491844" y="0"/>
                </a:lnTo>
                <a:lnTo>
                  <a:pt x="3491844" y="3523880"/>
                </a:lnTo>
                <a:lnTo>
                  <a:pt x="0" y="352388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6" name="TextBox 6"/>
          <p:cNvSpPr txBox="1"/>
          <p:nvPr/>
        </p:nvSpPr>
        <p:spPr>
          <a:xfrm>
            <a:off x="1016471" y="7126771"/>
            <a:ext cx="16255057" cy="814026"/>
          </a:xfrm>
          <a:prstGeom prst="rect">
            <a:avLst/>
          </a:prstGeom>
        </p:spPr>
        <p:txBody>
          <a:bodyPr lIns="0" tIns="0" rIns="0" bIns="0" rtlCol="0" anchor="t">
            <a:spAutoFit/>
          </a:bodyPr>
          <a:lstStyle/>
          <a:p>
            <a:pPr algn="ctr">
              <a:lnSpc>
                <a:spcPts val="6582"/>
              </a:lnSpc>
            </a:pPr>
            <a:r>
              <a:rPr lang="en-US" sz="4701" b="1" spc="75">
                <a:solidFill>
                  <a:srgbClr val="343434"/>
                </a:solidFill>
                <a:latin typeface="Asap Bold"/>
                <a:ea typeface="Asap Bold"/>
                <a:cs typeface="Asap Bold"/>
                <a:sym typeface="Asap Bold"/>
              </a:rPr>
              <a:t>CẢM ƠN THẦY VÀ MỌI NGƯỜI ĐÃ LẮNG NGHE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1118</Words>
  <Application>Microsoft Office PowerPoint</Application>
  <PresentationFormat>Custom</PresentationFormat>
  <Paragraphs>132</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Asap Bold</vt:lpstr>
      <vt:lpstr>Arial</vt:lpstr>
      <vt:lpstr>Asap</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Lập trình mạng - KTMT</dc:title>
  <cp:lastModifiedBy>PC</cp:lastModifiedBy>
  <cp:revision>8</cp:revision>
  <dcterms:created xsi:type="dcterms:W3CDTF">2006-08-16T00:00:00Z</dcterms:created>
  <dcterms:modified xsi:type="dcterms:W3CDTF">2025-11-20T04:43:27Z</dcterms:modified>
  <dc:identifier>DAG4SjMdwTA</dc:identifier>
</cp:coreProperties>
</file>